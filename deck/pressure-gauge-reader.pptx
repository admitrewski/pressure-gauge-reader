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4"/>
    <p:sldMasterId id="2147483662" r:id="rId5"/>
  </p:sldMasterIdLst>
  <p:notesMasterIdLst>
    <p:notesMasterId r:id="rId6"/>
  </p:notesMasterIdLst>
  <p:sldIdLst>
    <p:sldId id="256" r:id="rId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</p:sldIdLst>
  <p:sldSz cy="6858000" cx="12188950"/>
  <p:notesSz cx="6858000" cy="9144000"/>
  <p:embeddedFontLst>
    <p:embeddedFont>
      <p:font typeface="DM Sans Medium"/>
      <p:regular r:id="rId8"/>
      <p:bold r:id="rId9"/>
      <p:italic r:id="rId10"/>
      <p:boldItalic r:id="rId11"/>
    </p:embeddedFont>
    <p:embeddedFont>
      <p:font typeface="DM Mono Medium"/>
      <p:regular r:id="rId12"/>
      <p:italic r:id="rId13"/>
    </p:embeddedFont>
    <p:embeddedFont>
      <p:font typeface="DM Sans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747775"/>
          </p15:clr>
        </p15:guide>
        <p15:guide id="2" pos="3839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39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font" Target="fonts/DMSansMedium-regular.fntdata"/><Relationship Id="rId9" Type="http://schemas.openxmlformats.org/officeDocument/2006/relationships/font" Target="fonts/DMSansMedium-bold.fntdata"/><Relationship Id="rId10" Type="http://schemas.openxmlformats.org/officeDocument/2006/relationships/font" Target="fonts/DMSansMedium-italic.fntdata"/><Relationship Id="rId11" Type="http://schemas.openxmlformats.org/officeDocument/2006/relationships/font" Target="fonts/DMSansMedium-boldItalic.fntdata"/><Relationship Id="rId12" Type="http://schemas.openxmlformats.org/officeDocument/2006/relationships/font" Target="fonts/DMMonoMedium-regular.fntdata"/><Relationship Id="rId13" Type="http://schemas.openxmlformats.org/officeDocument/2006/relationships/font" Target="fonts/DMMonoMedium-italic.fntdata"/><Relationship Id="rId14" Type="http://schemas.openxmlformats.org/officeDocument/2006/relationships/font" Target="fonts/DMSans-regular.fntdata"/><Relationship Id="rId15" Type="http://schemas.openxmlformats.org/officeDocument/2006/relationships/font" Target="fonts/DMSans-bold.fntdata"/><Relationship Id="rId16" Type="http://schemas.openxmlformats.org/officeDocument/2006/relationships/font" Target="fonts/DMSans-italic.fntdata"/><Relationship Id="rId17" Type="http://schemas.openxmlformats.org/officeDocument/2006/relationships/font" Target="fonts/DMSans-boldItalic.fntdata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2063" y="685800"/>
            <a:ext cx="6094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customer and the business persona: operations leadership at a refinery running robot inspection rounds.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Lead with the outcome for the executive sponsor.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Replace [TBD] with the impact model: rounds/day x gauges x minutes x loaded cost. '&lt; 5 minutes' is from the build run (~4 minutes for 30 images).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 value for both personas the AI roleplay will play: the business stakeholder and the technical/domain stakeholder.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left to right: land, read, refine, serve, review, ask. Point out the closed loop (dashed arrow) and the Unity Catalog band under everything.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Keep the live demo under 8 minutes. Have the PI-3102 correction ready as the human-in-the-loop moment.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5.gif"/><Relationship Id="rId4" Type="http://schemas.openxmlformats.org/officeDocument/2006/relationships/image" Target="../media/image6.gif"/><Relationship Id="rId5" Type="http://schemas.openxmlformats.org/officeDocument/2006/relationships/image" Target="../media/image3.gi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415496" y="593367"/>
            <a:ext cx="11358000" cy="7635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1" name="Google Shape;11;p2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E - Blank">
  <p:cSld name="CUSTOM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 Content A - Basic">
  <p:cSld name="7 Content A - Basic">
    <p:bg>
      <p:bgPr>
        <a:solidFill>
          <a:srgbClr val="FFFFFF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/>
          <p:nvPr>
            <p:ph type="title"/>
          </p:nvPr>
        </p:nvSpPr>
        <p:spPr>
          <a:xfrm>
            <a:off x="749261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sz="400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39" name="Google Shape;39;p6"/>
          <p:cNvSpPr txBox="1"/>
          <p:nvPr>
            <p:ph idx="1" type="body"/>
          </p:nvPr>
        </p:nvSpPr>
        <p:spPr>
          <a:xfrm>
            <a:off x="761825" y="1988833"/>
            <a:ext cx="10659300" cy="41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81000" lvl="0" marL="457200" marR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Char char="•"/>
              <a:defRPr i="0" sz="2400" u="none" cap="none" strike="noStrike">
                <a:latin typeface="DM Sans"/>
                <a:ea typeface="DM Sans"/>
                <a:cs typeface="DM Sans"/>
                <a:sym typeface="DM Sans"/>
              </a:defRPr>
            </a:lvl1pPr>
            <a:lvl2pPr indent="-355600" lvl="1" marL="914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M Sans"/>
              <a:buChar char="•"/>
              <a:defRPr i="0" sz="2000" u="none" cap="none" strike="noStrike"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11636995" y="6426100"/>
            <a:ext cx="324300" cy="18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" name="Google Shape;41;p6"/>
          <p:cNvSpPr txBox="1"/>
          <p:nvPr>
            <p:ph idx="2" type="body"/>
          </p:nvPr>
        </p:nvSpPr>
        <p:spPr>
          <a:xfrm>
            <a:off x="748492" y="1174703"/>
            <a:ext cx="10659300" cy="5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rgbClr val="FF3621"/>
              </a:buClr>
              <a:buSzPts val="2400"/>
              <a:buNone/>
              <a:defRPr>
                <a:solidFill>
                  <a:srgbClr val="FF362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 Content B - 2 Column">
  <p:cSld name="9 Content B - 2 Column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/>
          <p:nvPr>
            <p:ph type="title"/>
          </p:nvPr>
        </p:nvSpPr>
        <p:spPr>
          <a:xfrm>
            <a:off x="749261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44" name="Google Shape;44;p7"/>
          <p:cNvSpPr txBox="1"/>
          <p:nvPr>
            <p:ph idx="1" type="body"/>
          </p:nvPr>
        </p:nvSpPr>
        <p:spPr>
          <a:xfrm>
            <a:off x="761825" y="2691865"/>
            <a:ext cx="4518900" cy="33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55600" lvl="0" marL="457200" marR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M Sans"/>
              <a:buChar char="•"/>
              <a:defRPr i="0" sz="2000" u="none" cap="none" strike="noStrike">
                <a:latin typeface="DM Sans"/>
                <a:ea typeface="DM Sans"/>
                <a:cs typeface="DM Sans"/>
                <a:sym typeface="DM Sans"/>
              </a:defRPr>
            </a:lvl1pPr>
            <a:lvl2pPr indent="-330200" lvl="1" marL="914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2" type="body"/>
          </p:nvPr>
        </p:nvSpPr>
        <p:spPr>
          <a:xfrm>
            <a:off x="6916611" y="2691865"/>
            <a:ext cx="4518900" cy="33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55600" lvl="0" marL="457200" marR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M Sans"/>
              <a:buChar char="•"/>
              <a:defRPr i="0" sz="2000" u="none" cap="none" strike="noStrike">
                <a:latin typeface="DM Sans"/>
                <a:ea typeface="DM Sans"/>
                <a:cs typeface="DM Sans"/>
                <a:sym typeface="DM Sans"/>
              </a:defRPr>
            </a:lvl1pPr>
            <a:lvl2pPr indent="-330200" lvl="1" marL="914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46" name="Google Shape;46;p7"/>
          <p:cNvSpPr txBox="1"/>
          <p:nvPr>
            <p:ph idx="3" type="subTitle"/>
          </p:nvPr>
        </p:nvSpPr>
        <p:spPr>
          <a:xfrm>
            <a:off x="795830" y="1970333"/>
            <a:ext cx="44844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4" type="subTitle"/>
          </p:nvPr>
        </p:nvSpPr>
        <p:spPr>
          <a:xfrm>
            <a:off x="6933707" y="1970333"/>
            <a:ext cx="44850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11636995" y="6426100"/>
            <a:ext cx="324300" cy="18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9" name="Google Shape;49;p7"/>
          <p:cNvSpPr txBox="1"/>
          <p:nvPr>
            <p:ph idx="5" type="body"/>
          </p:nvPr>
        </p:nvSpPr>
        <p:spPr>
          <a:xfrm>
            <a:off x="748492" y="1174703"/>
            <a:ext cx="10659300" cy="5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rgbClr val="FF3621"/>
              </a:buClr>
              <a:buSzPts val="2400"/>
              <a:buNone/>
              <a:defRPr>
                <a:solidFill>
                  <a:srgbClr val="FF362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 Content C - 3 Column">
  <p:cSld name="11 Content C - 3 Column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749261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761825" y="2825567"/>
            <a:ext cx="3224100" cy="32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482570" y="2825567"/>
            <a:ext cx="3224100" cy="32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54" name="Google Shape;54;p8"/>
          <p:cNvSpPr txBox="1"/>
          <p:nvPr>
            <p:ph idx="3" type="body"/>
          </p:nvPr>
        </p:nvSpPr>
        <p:spPr>
          <a:xfrm>
            <a:off x="8167924" y="2825567"/>
            <a:ext cx="3224100" cy="32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55" name="Google Shape;55;p8"/>
          <p:cNvSpPr txBox="1"/>
          <p:nvPr>
            <p:ph idx="4" type="subTitle"/>
          </p:nvPr>
        </p:nvSpPr>
        <p:spPr>
          <a:xfrm>
            <a:off x="786086" y="1970336"/>
            <a:ext cx="31995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6" name="Google Shape;56;p8"/>
          <p:cNvSpPr txBox="1"/>
          <p:nvPr>
            <p:ph idx="5" type="subTitle"/>
          </p:nvPr>
        </p:nvSpPr>
        <p:spPr>
          <a:xfrm>
            <a:off x="4494767" y="1970336"/>
            <a:ext cx="31995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7" name="Google Shape;57;p8"/>
          <p:cNvSpPr txBox="1"/>
          <p:nvPr>
            <p:ph idx="6" type="subTitle"/>
          </p:nvPr>
        </p:nvSpPr>
        <p:spPr>
          <a:xfrm>
            <a:off x="8180121" y="1970336"/>
            <a:ext cx="31995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11636995" y="6426100"/>
            <a:ext cx="324300" cy="18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9" name="Google Shape;59;p8"/>
          <p:cNvSpPr txBox="1"/>
          <p:nvPr>
            <p:ph idx="7" type="body"/>
          </p:nvPr>
        </p:nvSpPr>
        <p:spPr>
          <a:xfrm>
            <a:off x="748492" y="1174703"/>
            <a:ext cx="10659300" cy="5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rgbClr val="FF3621"/>
              </a:buClr>
              <a:buSzPts val="2400"/>
              <a:buNone/>
              <a:defRPr>
                <a:solidFill>
                  <a:srgbClr val="FF362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 Content C - 3 Column Cards">
  <p:cSld name="13 Content C - 3 Column Cards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9"/>
          <p:cNvSpPr/>
          <p:nvPr/>
        </p:nvSpPr>
        <p:spPr>
          <a:xfrm>
            <a:off x="7980167" y="1825633"/>
            <a:ext cx="3599400" cy="442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0063" rotWithShape="0" algn="bl" dir="5400000" dist="28575">
              <a:schemeClr val="dk1">
                <a:alpha val="10000"/>
              </a:schemeClr>
            </a:outerShdw>
          </a:effectLst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62" name="Google Shape;62;p9"/>
          <p:cNvSpPr/>
          <p:nvPr/>
        </p:nvSpPr>
        <p:spPr>
          <a:xfrm>
            <a:off x="4294747" y="1825633"/>
            <a:ext cx="3599400" cy="442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0063" rotWithShape="0" algn="bl" dir="5400000" dist="28575">
              <a:schemeClr val="dk1">
                <a:alpha val="10000"/>
              </a:schemeClr>
            </a:outerShdw>
          </a:effectLst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63" name="Google Shape;63;p9"/>
          <p:cNvSpPr/>
          <p:nvPr/>
        </p:nvSpPr>
        <p:spPr>
          <a:xfrm>
            <a:off x="609459" y="1825633"/>
            <a:ext cx="3599400" cy="442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0063" rotWithShape="0" algn="bl" dir="5400000" dist="28575">
              <a:schemeClr val="dk1">
                <a:alpha val="10000"/>
              </a:schemeClr>
            </a:outerShdw>
          </a:effectLst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>
            <a:off x="609614" y="1825433"/>
            <a:ext cx="3599100" cy="41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5" name="Google Shape;65;p9"/>
          <p:cNvSpPr/>
          <p:nvPr/>
        </p:nvSpPr>
        <p:spPr>
          <a:xfrm>
            <a:off x="4295792" y="1825433"/>
            <a:ext cx="3599100" cy="41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6" name="Google Shape;66;p9"/>
          <p:cNvSpPr/>
          <p:nvPr/>
        </p:nvSpPr>
        <p:spPr>
          <a:xfrm>
            <a:off x="7980470" y="1825433"/>
            <a:ext cx="3599100" cy="41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7" name="Google Shape;67;p9"/>
          <p:cNvSpPr txBox="1"/>
          <p:nvPr>
            <p:ph type="title"/>
          </p:nvPr>
        </p:nvSpPr>
        <p:spPr>
          <a:xfrm>
            <a:off x="749261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761825" y="2825567"/>
            <a:ext cx="3224100" cy="32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69" name="Google Shape;69;p9"/>
          <p:cNvSpPr txBox="1"/>
          <p:nvPr>
            <p:ph idx="2" type="body"/>
          </p:nvPr>
        </p:nvSpPr>
        <p:spPr>
          <a:xfrm>
            <a:off x="4482570" y="2825567"/>
            <a:ext cx="3224100" cy="32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70" name="Google Shape;70;p9"/>
          <p:cNvSpPr txBox="1"/>
          <p:nvPr>
            <p:ph idx="3" type="body"/>
          </p:nvPr>
        </p:nvSpPr>
        <p:spPr>
          <a:xfrm>
            <a:off x="8167924" y="2825567"/>
            <a:ext cx="3224100" cy="32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200"/>
              <a:buFont typeface="DM Sans"/>
              <a:buChar char="•"/>
              <a:defRPr i="0" sz="1200" u="none" cap="none" strike="noStrike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71" name="Google Shape;71;p9"/>
          <p:cNvSpPr txBox="1"/>
          <p:nvPr>
            <p:ph idx="4" type="subTitle"/>
          </p:nvPr>
        </p:nvSpPr>
        <p:spPr>
          <a:xfrm>
            <a:off x="786086" y="1970336"/>
            <a:ext cx="31995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2" name="Google Shape;72;p9"/>
          <p:cNvSpPr txBox="1"/>
          <p:nvPr>
            <p:ph idx="5" type="subTitle"/>
          </p:nvPr>
        </p:nvSpPr>
        <p:spPr>
          <a:xfrm>
            <a:off x="4494767" y="1970336"/>
            <a:ext cx="31995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3" name="Google Shape;73;p9"/>
          <p:cNvSpPr txBox="1"/>
          <p:nvPr>
            <p:ph idx="6" type="subTitle"/>
          </p:nvPr>
        </p:nvSpPr>
        <p:spPr>
          <a:xfrm>
            <a:off x="8180121" y="1970336"/>
            <a:ext cx="31995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4" name="Google Shape;74;p9"/>
          <p:cNvSpPr txBox="1"/>
          <p:nvPr>
            <p:ph idx="12" type="sldNum"/>
          </p:nvPr>
        </p:nvSpPr>
        <p:spPr>
          <a:xfrm>
            <a:off x="11636995" y="6426100"/>
            <a:ext cx="324300" cy="18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9"/>
          <p:cNvSpPr txBox="1"/>
          <p:nvPr>
            <p:ph idx="7" type="body"/>
          </p:nvPr>
        </p:nvSpPr>
        <p:spPr>
          <a:xfrm>
            <a:off x="748492" y="1174703"/>
            <a:ext cx="10659300" cy="5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rgbClr val="FF3621"/>
              </a:buClr>
              <a:buSzPts val="2400"/>
              <a:buNone/>
              <a:defRPr>
                <a:solidFill>
                  <a:srgbClr val="FF362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 Content D - Card Right">
  <p:cSld name="14 Content D - Card Righ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0"/>
          <p:cNvSpPr txBox="1"/>
          <p:nvPr>
            <p:ph type="title"/>
          </p:nvPr>
        </p:nvSpPr>
        <p:spPr>
          <a:xfrm>
            <a:off x="749261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78" name="Google Shape;78;p10"/>
          <p:cNvSpPr/>
          <p:nvPr/>
        </p:nvSpPr>
        <p:spPr>
          <a:xfrm>
            <a:off x="6024350" y="1825633"/>
            <a:ext cx="5555100" cy="442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42938" rotWithShape="0" algn="bl" dir="5400000" dist="28575">
              <a:schemeClr val="dk1">
                <a:alpha val="13000"/>
              </a:schemeClr>
            </a:outerShdw>
          </a:effectLst>
        </p:spPr>
        <p:txBody>
          <a:bodyPr anchorCtr="0" anchor="t" bIns="121875" lIns="121875" spcFirstLastPara="1" rIns="121875" wrap="square" tIns="12187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79" name="Google Shape;79;p10"/>
          <p:cNvSpPr txBox="1"/>
          <p:nvPr>
            <p:ph idx="1" type="body"/>
          </p:nvPr>
        </p:nvSpPr>
        <p:spPr>
          <a:xfrm>
            <a:off x="761825" y="1988833"/>
            <a:ext cx="4354800" cy="41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55600" lvl="0" marL="457200" marR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M Sans"/>
              <a:buChar char="•"/>
              <a:defRPr i="0" sz="2000" u="none" cap="none" strike="noStrike">
                <a:latin typeface="DM Sans"/>
                <a:ea typeface="DM Sans"/>
                <a:cs typeface="DM Sans"/>
                <a:sym typeface="DM Sans"/>
              </a:defRPr>
            </a:lvl1pPr>
            <a:lvl2pPr indent="-330200" lvl="1" marL="914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80" name="Google Shape;80;p10"/>
          <p:cNvSpPr txBox="1"/>
          <p:nvPr>
            <p:ph idx="2" type="body"/>
          </p:nvPr>
        </p:nvSpPr>
        <p:spPr>
          <a:xfrm>
            <a:off x="6164850" y="1988833"/>
            <a:ext cx="5244000" cy="41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55600" lvl="0" marL="457200" marR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M Sans"/>
              <a:buChar char="•"/>
              <a:defRPr i="0" sz="2000" u="none" cap="none" strike="noStrike">
                <a:latin typeface="DM Sans"/>
                <a:ea typeface="DM Sans"/>
                <a:cs typeface="DM Sans"/>
                <a:sym typeface="DM Sans"/>
              </a:defRPr>
            </a:lvl1pPr>
            <a:lvl2pPr indent="-330200" lvl="1" marL="914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u="none" cap="none" strike="noStrike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81" name="Google Shape;81;p10"/>
          <p:cNvSpPr txBox="1"/>
          <p:nvPr>
            <p:ph idx="12" type="sldNum"/>
          </p:nvPr>
        </p:nvSpPr>
        <p:spPr>
          <a:xfrm>
            <a:off x="11636995" y="6426100"/>
            <a:ext cx="324300" cy="18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10"/>
          <p:cNvSpPr txBox="1"/>
          <p:nvPr>
            <p:ph idx="3" type="body"/>
          </p:nvPr>
        </p:nvSpPr>
        <p:spPr>
          <a:xfrm>
            <a:off x="748492" y="1174703"/>
            <a:ext cx="10659300" cy="5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rgbClr val="FF3621"/>
              </a:buClr>
              <a:buSzPts val="2400"/>
              <a:buNone/>
              <a:defRPr>
                <a:solidFill>
                  <a:srgbClr val="FF362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 Content D - Card Large">
  <p:cSld name="16 Content D - Card Large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/>
          <p:nvPr/>
        </p:nvSpPr>
        <p:spPr>
          <a:xfrm>
            <a:off x="609459" y="1825633"/>
            <a:ext cx="10969800" cy="442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42938" rotWithShape="0" algn="bl" dir="5400000" dist="28575">
              <a:schemeClr val="dk1">
                <a:alpha val="13000"/>
              </a:schemeClr>
            </a:outerShdw>
          </a:effectLst>
        </p:spPr>
        <p:txBody>
          <a:bodyPr anchorCtr="0" anchor="t" bIns="121875" lIns="121875" spcFirstLastPara="1" rIns="121875" wrap="square" tIns="12187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5" name="Google Shape;85;p11"/>
          <p:cNvSpPr txBox="1"/>
          <p:nvPr>
            <p:ph type="title"/>
          </p:nvPr>
        </p:nvSpPr>
        <p:spPr>
          <a:xfrm>
            <a:off x="749261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86" name="Google Shape;86;p11"/>
          <p:cNvSpPr txBox="1"/>
          <p:nvPr>
            <p:ph idx="1" type="body"/>
          </p:nvPr>
        </p:nvSpPr>
        <p:spPr>
          <a:xfrm>
            <a:off x="761825" y="1988833"/>
            <a:ext cx="10659300" cy="41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55600" lvl="0" marL="457200" marR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M Sans"/>
              <a:buChar char="•"/>
              <a:defRPr i="0" sz="2000" u="none" cap="none" strike="noStrike">
                <a:latin typeface="DM Sans"/>
                <a:ea typeface="DM Sans"/>
                <a:cs typeface="DM Sans"/>
                <a:sym typeface="DM Sans"/>
              </a:defRPr>
            </a:lvl1pPr>
            <a:lvl2pPr indent="-330200" lvl="1" marL="914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Font typeface="DM Sans"/>
              <a:buChar char="•"/>
              <a:defRPr i="0" sz="1600" u="none" cap="none" strike="noStrike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87" name="Google Shape;87;p11"/>
          <p:cNvSpPr txBox="1"/>
          <p:nvPr>
            <p:ph idx="12" type="sldNum"/>
          </p:nvPr>
        </p:nvSpPr>
        <p:spPr>
          <a:xfrm>
            <a:off x="11636995" y="6426100"/>
            <a:ext cx="324300" cy="18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8" name="Google Shape;88;p11"/>
          <p:cNvSpPr txBox="1"/>
          <p:nvPr>
            <p:ph idx="2" type="body"/>
          </p:nvPr>
        </p:nvSpPr>
        <p:spPr>
          <a:xfrm>
            <a:off x="748492" y="1174703"/>
            <a:ext cx="10659300" cy="5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rgbClr val="FF3621"/>
              </a:buClr>
              <a:buSzPts val="2400"/>
              <a:buNone/>
              <a:defRPr>
                <a:solidFill>
                  <a:srgbClr val="FF362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indent="-355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2pPr>
            <a:lvl3pPr indent="-3302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3pPr>
            <a:lvl4pPr indent="-3302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Title Slide B - Light 4">
  <p:cSld name="3 Title Slide B - Light 2_1_1">
    <p:bg>
      <p:bgPr>
        <a:solidFill>
          <a:srgbClr val="1B3139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 txBox="1"/>
          <p:nvPr>
            <p:ph type="ctrTitle"/>
          </p:nvPr>
        </p:nvSpPr>
        <p:spPr>
          <a:xfrm>
            <a:off x="761815" y="1186975"/>
            <a:ext cx="6171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Arial"/>
              <a:buNone/>
              <a:defRPr sz="5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1" name="Google Shape;91;p12"/>
          <p:cNvSpPr txBox="1"/>
          <p:nvPr>
            <p:ph idx="1" type="subTitle"/>
          </p:nvPr>
        </p:nvSpPr>
        <p:spPr>
          <a:xfrm>
            <a:off x="761813" y="3835400"/>
            <a:ext cx="4850700" cy="12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 sz="1900">
                <a:solidFill>
                  <a:schemeClr val="lt1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92" name="Google Shape;92;p12"/>
          <p:cNvPicPr preferRelativeResize="0"/>
          <p:nvPr/>
        </p:nvPicPr>
        <p:blipFill rotWithShape="1">
          <a:blip r:embed="rId2">
            <a:alphaModFix/>
          </a:blip>
          <a:srcRect b="29471" l="0" r="0" t="29471"/>
          <a:stretch/>
        </p:blipFill>
        <p:spPr>
          <a:xfrm>
            <a:off x="761824" y="609599"/>
            <a:ext cx="2557620" cy="4054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3" name="Google Shape;93;p12"/>
          <p:cNvCxnSpPr/>
          <p:nvPr/>
        </p:nvCxnSpPr>
        <p:spPr>
          <a:xfrm>
            <a:off x="761825" y="5617267"/>
            <a:ext cx="560400" cy="0"/>
          </a:xfrm>
          <a:prstGeom prst="straightConnector1">
            <a:avLst/>
          </a:prstGeom>
          <a:noFill/>
          <a:ln cap="flat" cmpd="sng" w="38100">
            <a:solidFill>
              <a:srgbClr val="FF695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4" name="Google Shape;94;p12"/>
          <p:cNvSpPr txBox="1"/>
          <p:nvPr>
            <p:ph idx="2" type="subTitle"/>
          </p:nvPr>
        </p:nvSpPr>
        <p:spPr>
          <a:xfrm>
            <a:off x="761825" y="5756000"/>
            <a:ext cx="5262300" cy="4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pic>
        <p:nvPicPr>
          <p:cNvPr id="95" name="Google Shape;95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90879" y="4671269"/>
            <a:ext cx="1736061" cy="1576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90879" y="2876907"/>
            <a:ext cx="1736061" cy="1576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15344" y="4671290"/>
            <a:ext cx="1736051" cy="15766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E - Power Statement 1">
  <p:cSld name="Content E - Power Statement 1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3"/>
          <p:cNvSpPr txBox="1"/>
          <p:nvPr>
            <p:ph type="title"/>
          </p:nvPr>
        </p:nvSpPr>
        <p:spPr>
          <a:xfrm>
            <a:off x="762008" y="609600"/>
            <a:ext cx="10660200" cy="56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DM Sans Medium"/>
              <a:buNone/>
              <a:defRPr i="0" sz="4800" u="none" cap="none" strike="noStrike">
                <a:solidFill>
                  <a:schemeClr val="accen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100" name="Google Shape;100;p13"/>
          <p:cNvSpPr txBox="1"/>
          <p:nvPr>
            <p:ph idx="12" type="sldNum"/>
          </p:nvPr>
        </p:nvSpPr>
        <p:spPr>
          <a:xfrm>
            <a:off x="11636995" y="6426100"/>
            <a:ext cx="324300" cy="18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E - Section Break 2">
  <p:cSld name="Content E - Power Statement 2_2">
    <p:bg>
      <p:bgPr>
        <a:solidFill>
          <a:srgbClr val="1B3139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954" cy="685628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>
            <p:ph type="title"/>
          </p:nvPr>
        </p:nvSpPr>
        <p:spPr>
          <a:xfrm>
            <a:off x="762009" y="2069633"/>
            <a:ext cx="9018600" cy="417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DM Sans Medium"/>
              <a:buNone/>
              <a:defRPr i="0" sz="8000" u="none" cap="none" strike="noStrike">
                <a:solidFill>
                  <a:schemeClr val="l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104" name="Google Shape;104;p14"/>
          <p:cNvSpPr txBox="1"/>
          <p:nvPr>
            <p:ph idx="12" type="sldNum"/>
          </p:nvPr>
        </p:nvSpPr>
        <p:spPr>
          <a:xfrm>
            <a:off x="11636995" y="6426100"/>
            <a:ext cx="324300" cy="18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5" name="Google Shape;105;p14"/>
          <p:cNvSpPr txBox="1"/>
          <p:nvPr>
            <p:ph idx="1" type="subTitle"/>
          </p:nvPr>
        </p:nvSpPr>
        <p:spPr>
          <a:xfrm>
            <a:off x="762009" y="1483633"/>
            <a:ext cx="9018600" cy="585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None/>
              <a:defRPr sz="1600">
                <a:solidFill>
                  <a:schemeClr val="dk2"/>
                </a:solidFill>
                <a:latin typeface="DM Mono Medium"/>
                <a:ea typeface="DM Mono Medium"/>
                <a:cs typeface="DM Mono Medium"/>
                <a:sym typeface="DM Mono Medium"/>
              </a:defRPr>
            </a:lvl1pPr>
            <a:lvl2pPr lvl="1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E - Power Statement 1">
  <p:cSld name="Content E - Power Statement 2_1">
    <p:bg>
      <p:bgPr>
        <a:solidFill>
          <a:srgbClr val="1B3139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762008" y="609600"/>
            <a:ext cx="10660200" cy="56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DM Sans Medium"/>
              <a:buNone/>
              <a:defRPr i="0" sz="4800" u="none" cap="none" strike="noStrike">
                <a:solidFill>
                  <a:schemeClr val="l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108" name="Google Shape;108;p15"/>
          <p:cNvSpPr txBox="1"/>
          <p:nvPr>
            <p:ph idx="12" type="sldNum"/>
          </p:nvPr>
        </p:nvSpPr>
        <p:spPr>
          <a:xfrm>
            <a:off x="11636995" y="6426100"/>
            <a:ext cx="324300" cy="18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496" y="593367"/>
            <a:ext cx="11358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121875" spcFirstLastPara="1" rIns="121875" wrap="square" tIns="1218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496" y="1536633"/>
            <a:ext cx="113580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121875" spcFirstLastPara="1" rIns="121875" wrap="square" tIns="121875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749261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"/>
              <a:buNone/>
              <a:defRPr b="1" i="0" sz="40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None/>
              <a:defRPr b="1" i="0" sz="1900" u="none" cap="none" strike="noStrike">
                <a:solidFill>
                  <a:srgbClr val="000000"/>
                </a:solidFill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None/>
              <a:defRPr b="1" i="0" sz="1900" u="none" cap="none" strike="noStrike">
                <a:solidFill>
                  <a:srgbClr val="000000"/>
                </a:solidFill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None/>
              <a:defRPr b="1" i="0" sz="1900" u="none" cap="none" strike="noStrike">
                <a:solidFill>
                  <a:srgbClr val="000000"/>
                </a:solidFill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None/>
              <a:defRPr b="1" i="0" sz="1900" u="none" cap="none" strike="noStrike">
                <a:solidFill>
                  <a:srgbClr val="000000"/>
                </a:solidFill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None/>
              <a:defRPr b="1" i="0" sz="1900" u="none" cap="none" strike="noStrike">
                <a:solidFill>
                  <a:srgbClr val="000000"/>
                </a:solidFill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None/>
              <a:defRPr b="1" i="0" sz="1900" u="none" cap="none" strike="noStrike">
                <a:solidFill>
                  <a:srgbClr val="000000"/>
                </a:solidFill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None/>
              <a:defRPr b="1" i="0" sz="1900" u="none" cap="none" strike="noStrike">
                <a:solidFill>
                  <a:srgbClr val="000000"/>
                </a:solidFill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None/>
              <a:defRPr b="1" i="0" sz="1900" u="none" cap="none" strike="noStrike">
                <a:solidFill>
                  <a:srgbClr val="000000"/>
                </a:solidFill>
              </a:defRPr>
            </a:lvl9pPr>
          </a:lstStyle>
          <a:p/>
        </p:txBody>
      </p:sp>
      <p:sp>
        <p:nvSpPr>
          <p:cNvPr id="16" name="Google Shape;16;p4"/>
          <p:cNvSpPr txBox="1"/>
          <p:nvPr>
            <p:ph idx="1" type="body"/>
          </p:nvPr>
        </p:nvSpPr>
        <p:spPr>
          <a:xfrm>
            <a:off x="761825" y="1825633"/>
            <a:ext cx="105894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DM Sans"/>
              <a:buChar char="•"/>
              <a:defRPr b="0" i="0" sz="24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DM Sans"/>
              <a:buChar char="•"/>
              <a:defRPr b="0" i="0" sz="20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b="0"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b="0"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b="0"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b="0"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b="0"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b="0"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b="0"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17" name="Google Shape;17;p4"/>
          <p:cNvPicPr preferRelativeResize="0"/>
          <p:nvPr/>
        </p:nvPicPr>
        <p:blipFill rotWithShape="1">
          <a:blip r:embed="rId1">
            <a:alphaModFix/>
          </a:blip>
          <a:srcRect b="642" l="0" r="0" t="642"/>
          <a:stretch/>
        </p:blipFill>
        <p:spPr>
          <a:xfrm>
            <a:off x="227543" y="6407467"/>
            <a:ext cx="215778" cy="22361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4"/>
          <p:cNvSpPr txBox="1"/>
          <p:nvPr>
            <p:ph idx="12" type="sldNum"/>
          </p:nvPr>
        </p:nvSpPr>
        <p:spPr>
          <a:xfrm>
            <a:off x="11636995" y="6426100"/>
            <a:ext cx="324300" cy="18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9" name="Google Shape;19;p4"/>
          <p:cNvGrpSpPr/>
          <p:nvPr/>
        </p:nvGrpSpPr>
        <p:grpSpPr>
          <a:xfrm>
            <a:off x="12402842" y="-43986"/>
            <a:ext cx="1440600" cy="5240746"/>
            <a:chOff x="12402842" y="-43986"/>
            <a:chExt cx="1440600" cy="5240746"/>
          </a:xfrm>
        </p:grpSpPr>
        <p:sp>
          <p:nvSpPr>
            <p:cNvPr id="20" name="Google Shape;20;p4"/>
            <p:cNvSpPr/>
            <p:nvPr/>
          </p:nvSpPr>
          <p:spPr>
            <a:xfrm>
              <a:off x="12402842" y="263791"/>
              <a:ext cx="577800" cy="577800"/>
            </a:xfrm>
            <a:prstGeom prst="rect">
              <a:avLst/>
            </a:prstGeom>
            <a:solidFill>
              <a:srgbClr val="FF3621"/>
            </a:solidFill>
            <a:ln>
              <a:noFill/>
            </a:ln>
          </p:spPr>
          <p:txBody>
            <a:bodyPr anchorCtr="0" anchor="t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400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Lava </a:t>
              </a: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600 - Primary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#FF3621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RGB (255 ,54, 33)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C0, M91, Y93, K0</a:t>
              </a:r>
              <a:endParaRPr b="0" i="0" sz="400" u="none" cap="none" strike="noStrike">
                <a:solidFill>
                  <a:srgbClr val="F9F7F4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sp>
          <p:nvSpPr>
            <p:cNvPr id="21" name="Google Shape;21;p4"/>
            <p:cNvSpPr/>
            <p:nvPr/>
          </p:nvSpPr>
          <p:spPr>
            <a:xfrm>
              <a:off x="12402842" y="875818"/>
              <a:ext cx="577800" cy="577800"/>
            </a:xfrm>
            <a:prstGeom prst="rect">
              <a:avLst/>
            </a:prstGeom>
            <a:solidFill>
              <a:srgbClr val="1B3139"/>
            </a:solidFill>
            <a:ln>
              <a:noFill/>
            </a:ln>
          </p:spPr>
          <p:txBody>
            <a:bodyPr anchorCtr="0" anchor="t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Navy 800 - Primary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#1B3139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RGB (27, 49, 57)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C86, M65, Y57, K56</a:t>
              </a:r>
              <a:endParaRPr b="0" i="0" sz="400" u="none" cap="none" strike="noStrike">
                <a:solidFill>
                  <a:srgbClr val="F9F7F4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sp>
          <p:nvSpPr>
            <p:cNvPr id="22" name="Google Shape;22;p4"/>
            <p:cNvSpPr/>
            <p:nvPr/>
          </p:nvSpPr>
          <p:spPr>
            <a:xfrm>
              <a:off x="12402842" y="2777735"/>
              <a:ext cx="577800" cy="577800"/>
            </a:xfrm>
            <a:prstGeom prst="rect">
              <a:avLst/>
            </a:prstGeom>
            <a:solidFill>
              <a:srgbClr val="98102A"/>
            </a:solidFill>
            <a:ln>
              <a:noFill/>
            </a:ln>
          </p:spPr>
          <p:txBody>
            <a:bodyPr anchorCtr="0" anchor="t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Maroon 600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#98102A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RGB (152, 16, 42)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C26, M100, Y84, K24</a:t>
              </a:r>
              <a:endParaRPr b="0" i="0" sz="400" u="none" cap="none" strike="noStrike">
                <a:solidFill>
                  <a:srgbClr val="F9F7F4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sp>
          <p:nvSpPr>
            <p:cNvPr id="23" name="Google Shape;23;p4"/>
            <p:cNvSpPr/>
            <p:nvPr/>
          </p:nvSpPr>
          <p:spPr>
            <a:xfrm>
              <a:off x="12402842" y="3391477"/>
              <a:ext cx="577800" cy="577800"/>
            </a:xfrm>
            <a:prstGeom prst="rect">
              <a:avLst/>
            </a:prstGeom>
            <a:solidFill>
              <a:srgbClr val="FFAB00"/>
            </a:solidFill>
            <a:ln>
              <a:noFill/>
            </a:ln>
          </p:spPr>
          <p:txBody>
            <a:bodyPr anchorCtr="0" anchor="t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Yellow 600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#FFAB00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RGB (255, 171, 0)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C0, M38, Y100, K0</a:t>
              </a:r>
              <a:endParaRPr b="0" i="0" sz="400" u="none" cap="none" strike="noStrike">
                <a:solidFill>
                  <a:srgbClr val="1B3139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sp>
          <p:nvSpPr>
            <p:cNvPr id="24" name="Google Shape;24;p4"/>
            <p:cNvSpPr/>
            <p:nvPr/>
          </p:nvSpPr>
          <p:spPr>
            <a:xfrm>
              <a:off x="12402842" y="4005218"/>
              <a:ext cx="577800" cy="577800"/>
            </a:xfrm>
            <a:prstGeom prst="rect">
              <a:avLst/>
            </a:prstGeom>
            <a:solidFill>
              <a:srgbClr val="00A972"/>
            </a:solidFill>
            <a:ln>
              <a:noFill/>
            </a:ln>
          </p:spPr>
          <p:txBody>
            <a:bodyPr anchorCtr="0" anchor="t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Green 600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#00A972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RGB (0, 169, 114)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C81, M6, Y74, K0</a:t>
              </a:r>
              <a:endParaRPr b="0" i="0" sz="400" u="none" cap="none" strike="noStrike">
                <a:solidFill>
                  <a:srgbClr val="1B3139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sp>
          <p:nvSpPr>
            <p:cNvPr id="25" name="Google Shape;25;p4"/>
            <p:cNvSpPr/>
            <p:nvPr/>
          </p:nvSpPr>
          <p:spPr>
            <a:xfrm>
              <a:off x="12402842" y="4618960"/>
              <a:ext cx="577800" cy="577800"/>
            </a:xfrm>
            <a:prstGeom prst="rect">
              <a:avLst/>
            </a:prstGeom>
            <a:solidFill>
              <a:srgbClr val="2272B4"/>
            </a:solidFill>
            <a:ln>
              <a:noFill/>
            </a:ln>
          </p:spPr>
          <p:txBody>
            <a:bodyPr anchorCtr="0" anchor="t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Blue 600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#2272B4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RGB (34, 114,1 80)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C86, M52, Y4, K0</a:t>
              </a:r>
              <a:endParaRPr b="0" i="0" sz="400" u="none" cap="none" strike="noStrike">
                <a:solidFill>
                  <a:srgbClr val="F9F7F4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sp>
          <p:nvSpPr>
            <p:cNvPr id="26" name="Google Shape;26;p4"/>
            <p:cNvSpPr/>
            <p:nvPr/>
          </p:nvSpPr>
          <p:spPr>
            <a:xfrm>
              <a:off x="13021430" y="2777735"/>
              <a:ext cx="577800" cy="577800"/>
            </a:xfrm>
            <a:prstGeom prst="rect">
              <a:avLst/>
            </a:prstGeom>
            <a:solidFill>
              <a:srgbClr val="303F47"/>
            </a:solidFill>
            <a:ln>
              <a:noFill/>
            </a:ln>
          </p:spPr>
          <p:txBody>
            <a:bodyPr anchorCtr="0" anchor="t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Gray - Navigation</a:t>
              </a:r>
              <a:endParaRPr b="0" i="0" sz="400" u="none" cap="none" strike="noStrike">
                <a:solidFill>
                  <a:srgbClr val="F9F7F4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#303F47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RGB (48, 63, 71)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C79, M62, Y54, K44</a:t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>
              <a:off x="13021430" y="3391477"/>
              <a:ext cx="577800" cy="577800"/>
            </a:xfrm>
            <a:prstGeom prst="rect">
              <a:avLst/>
            </a:prstGeom>
            <a:solidFill>
              <a:srgbClr val="5A6F77"/>
            </a:solidFill>
            <a:ln>
              <a:noFill/>
            </a:ln>
          </p:spPr>
          <p:txBody>
            <a:bodyPr anchorCtr="0" anchor="t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Gray – Text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#5A6F77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RGB (90, 111, 119)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C68, M47, Y44, K14</a:t>
              </a:r>
              <a:endParaRPr b="0" i="0" sz="400" u="none" cap="none" strike="noStrike">
                <a:solidFill>
                  <a:srgbClr val="F9F7F4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13021430" y="4005218"/>
              <a:ext cx="577800" cy="577800"/>
            </a:xfrm>
            <a:prstGeom prst="rect">
              <a:avLst/>
            </a:prstGeom>
            <a:solidFill>
              <a:srgbClr val="DCE0E2"/>
            </a:solidFill>
            <a:ln>
              <a:noFill/>
            </a:ln>
          </p:spPr>
          <p:txBody>
            <a:bodyPr anchorCtr="0" anchor="t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Gray – Lines</a:t>
              </a:r>
              <a:endParaRPr b="0" i="0" sz="400" u="none" cap="none" strike="noStrike">
                <a:solidFill>
                  <a:srgbClr val="1B3139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#DCE0E2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RGB (220, 224, 226)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C12, M7, Y8, K0</a:t>
              </a:r>
              <a:endParaRPr b="0" i="0" sz="400" u="none" cap="none" strike="noStrike">
                <a:solidFill>
                  <a:srgbClr val="1B3139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sp>
          <p:nvSpPr>
            <p:cNvPr id="29" name="Google Shape;29;p4"/>
            <p:cNvSpPr txBox="1"/>
            <p:nvPr/>
          </p:nvSpPr>
          <p:spPr>
            <a:xfrm>
              <a:off x="12402842" y="-43986"/>
              <a:ext cx="12177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Primary palette</a:t>
              </a:r>
              <a:endParaRPr/>
            </a:p>
          </p:txBody>
        </p:sp>
        <p:sp>
          <p:nvSpPr>
            <p:cNvPr id="30" name="Google Shape;30;p4"/>
            <p:cNvSpPr txBox="1"/>
            <p:nvPr/>
          </p:nvSpPr>
          <p:spPr>
            <a:xfrm>
              <a:off x="12402842" y="2469957"/>
              <a:ext cx="14406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Secondary palette</a:t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>
              <a:off x="12402855" y="1487850"/>
              <a:ext cx="577800" cy="577800"/>
            </a:xfrm>
            <a:prstGeom prst="rect">
              <a:avLst/>
            </a:prstGeom>
            <a:solidFill>
              <a:srgbClr val="EEEDE9"/>
            </a:solidFill>
            <a:ln>
              <a:noFill/>
            </a:ln>
          </p:spPr>
          <p:txBody>
            <a:bodyPr anchorCtr="0" anchor="t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Oat Medium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#EEEDE9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RGB (238, 237, 233)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C6, M4, Y6, K0</a:t>
              </a:r>
              <a:endParaRPr b="0" i="0" sz="400" u="none" cap="none" strike="noStrike">
                <a:solidFill>
                  <a:srgbClr val="1B3139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13021430" y="1489567"/>
              <a:ext cx="577800" cy="577800"/>
            </a:xfrm>
            <a:prstGeom prst="rect">
              <a:avLst/>
            </a:prstGeom>
            <a:solidFill>
              <a:srgbClr val="F9F7F4"/>
            </a:solidFill>
            <a:ln>
              <a:noFill/>
            </a:ln>
          </p:spPr>
          <p:txBody>
            <a:bodyPr anchorCtr="0" anchor="t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Oat Light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#F9F7F4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RGB (249</a:t>
              </a:r>
              <a:r>
                <a:rPr lang="en" sz="400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, </a:t>
              </a: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,247, 244)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1B3139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C1, M2, Y2, K0</a:t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>
              <a:off x="13021417" y="263791"/>
              <a:ext cx="577800" cy="577800"/>
            </a:xfrm>
            <a:prstGeom prst="rect">
              <a:avLst/>
            </a:prstGeom>
            <a:solidFill>
              <a:srgbClr val="FF5F46"/>
            </a:solidFill>
            <a:ln>
              <a:noFill/>
            </a:ln>
          </p:spPr>
          <p:txBody>
            <a:bodyPr anchorCtr="0" anchor="t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400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Lava 5</a:t>
              </a: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00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" sz="400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#FF5F46</a:t>
              </a:r>
              <a:endParaRPr sz="400">
                <a:solidFill>
                  <a:srgbClr val="F9F7F4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" sz="400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RGB (255, 95, 70)</a:t>
              </a:r>
              <a:endParaRPr sz="400">
                <a:solidFill>
                  <a:srgbClr val="F9F7F4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" sz="400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C0, M78, Y79, K0</a:t>
              </a:r>
              <a:endParaRPr sz="400">
                <a:solidFill>
                  <a:srgbClr val="F9F7F4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13021430" y="875818"/>
              <a:ext cx="577800" cy="577800"/>
            </a:xfrm>
            <a:prstGeom prst="rect">
              <a:avLst/>
            </a:prstGeom>
            <a:solidFill>
              <a:srgbClr val="0B2026"/>
            </a:solidFill>
            <a:ln>
              <a:noFill/>
            </a:ln>
          </p:spPr>
          <p:txBody>
            <a:bodyPr anchorCtr="0" anchor="t" bIns="45700" lIns="45700" spcFirstLastPara="1" rIns="45700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Navy </a:t>
              </a:r>
              <a:r>
                <a:rPr lang="en" sz="400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900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#</a:t>
              </a:r>
              <a:r>
                <a:rPr lang="en" sz="400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0B2026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RGB (</a:t>
              </a:r>
              <a:r>
                <a:rPr lang="en" sz="400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11</a:t>
              </a: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, </a:t>
              </a:r>
              <a:r>
                <a:rPr lang="en" sz="400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32</a:t>
              </a: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, </a:t>
              </a:r>
              <a:r>
                <a:rPr lang="en" sz="400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38)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C86, M6</a:t>
              </a:r>
              <a:r>
                <a:rPr lang="en" sz="400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7</a:t>
              </a: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, Y</a:t>
              </a:r>
              <a:r>
                <a:rPr lang="en" sz="400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61, </a:t>
              </a:r>
              <a:r>
                <a:rPr b="0" i="0" lang="en" sz="400" u="none" cap="none" strike="noStrike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 K</a:t>
              </a:r>
              <a:r>
                <a:rPr lang="en" sz="400">
                  <a:solidFill>
                    <a:srgbClr val="F9F7F4"/>
                  </a:solidFill>
                  <a:latin typeface="DM Sans Medium"/>
                  <a:ea typeface="DM Sans Medium"/>
                  <a:cs typeface="DM Sans Medium"/>
                  <a:sym typeface="DM Sans Medium"/>
                </a:rPr>
                <a:t>71</a:t>
              </a:r>
              <a:endParaRPr b="0" i="0" sz="400" u="none" cap="none" strike="noStrike">
                <a:solidFill>
                  <a:srgbClr val="F9F7F4"/>
                </a:solidFill>
                <a:latin typeface="DM Sans Medium"/>
                <a:ea typeface="DM Sans Medium"/>
                <a:cs typeface="DM Sans Medium"/>
                <a:sym typeface="DM Sans Medium"/>
              </a:endParaRPr>
            </a:p>
          </p:txBody>
        </p:sp>
      </p:grpSp>
      <p:sp>
        <p:nvSpPr>
          <p:cNvPr id="35" name="Google Shape;35;p4"/>
          <p:cNvSpPr txBox="1"/>
          <p:nvPr/>
        </p:nvSpPr>
        <p:spPr>
          <a:xfrm>
            <a:off x="762000" y="6442322"/>
            <a:ext cx="4269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rPr>
              <a:t>©2026 Databricks, Inc. — All rights reserved</a:t>
            </a:r>
            <a:endParaRPr sz="1000">
              <a:solidFill>
                <a:schemeClr val="accent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384">
          <p15:clr>
            <a:srgbClr val="EA4335"/>
          </p15:clr>
        </p15:guide>
        <p15:guide id="2" pos="480">
          <p15:clr>
            <a:srgbClr val="EA4335"/>
          </p15:clr>
        </p15:guide>
        <p15:guide id="3" pos="960">
          <p15:clr>
            <a:srgbClr val="EA4335"/>
          </p15:clr>
        </p15:guide>
        <p15:guide id="4" pos="1056">
          <p15:clr>
            <a:srgbClr val="EA4335"/>
          </p15:clr>
        </p15:guide>
        <p15:guide id="5" pos="1518">
          <p15:clr>
            <a:srgbClr val="EA4335"/>
          </p15:clr>
        </p15:guide>
        <p15:guide id="6" pos="1614">
          <p15:clr>
            <a:srgbClr val="EA4335"/>
          </p15:clr>
        </p15:guide>
        <p15:guide id="7" pos="2091">
          <p15:clr>
            <a:srgbClr val="EA4335"/>
          </p15:clr>
        </p15:guide>
        <p15:guide id="8" pos="2185">
          <p15:clr>
            <a:srgbClr val="EA4335"/>
          </p15:clr>
        </p15:guide>
        <p15:guide id="9" pos="2651">
          <p15:clr>
            <a:srgbClr val="EA4335"/>
          </p15:clr>
        </p15:guide>
        <p15:guide id="10" pos="2755">
          <p15:clr>
            <a:srgbClr val="EA4335"/>
          </p15:clr>
        </p15:guide>
        <p15:guide id="11" pos="3223">
          <p15:clr>
            <a:srgbClr val="EA4335"/>
          </p15:clr>
        </p15:guide>
        <p15:guide id="12" pos="3326">
          <p15:clr>
            <a:srgbClr val="EA4335"/>
          </p15:clr>
        </p15:guide>
        <p15:guide id="13" pos="3795">
          <p15:clr>
            <a:srgbClr val="EA4335"/>
          </p15:clr>
        </p15:guide>
        <p15:guide id="14" pos="3883">
          <p15:clr>
            <a:srgbClr val="EA4335"/>
          </p15:clr>
        </p15:guide>
        <p15:guide id="15" pos="4367">
          <p15:clr>
            <a:srgbClr val="EA4335"/>
          </p15:clr>
        </p15:guide>
        <p15:guide id="16" pos="4455">
          <p15:clr>
            <a:srgbClr val="EA4335"/>
          </p15:clr>
        </p15:guide>
        <p15:guide id="17" pos="4923">
          <p15:clr>
            <a:srgbClr val="EA4335"/>
          </p15:clr>
        </p15:guide>
        <p15:guide id="18" pos="5027">
          <p15:clr>
            <a:srgbClr val="EA4335"/>
          </p15:clr>
        </p15:guide>
        <p15:guide id="19" pos="5493">
          <p15:clr>
            <a:srgbClr val="EA4335"/>
          </p15:clr>
        </p15:guide>
        <p15:guide id="20" pos="5587">
          <p15:clr>
            <a:srgbClr val="EA4335"/>
          </p15:clr>
        </p15:guide>
        <p15:guide id="21" pos="6064">
          <p15:clr>
            <a:srgbClr val="EA4335"/>
          </p15:clr>
        </p15:guide>
        <p15:guide id="22" pos="6161">
          <p15:clr>
            <a:srgbClr val="EA4335"/>
          </p15:clr>
        </p15:guide>
        <p15:guide id="23" pos="6622">
          <p15:clr>
            <a:srgbClr val="EA4335"/>
          </p15:clr>
        </p15:guide>
        <p15:guide id="24" pos="6718">
          <p15:clr>
            <a:srgbClr val="EA4335"/>
          </p15:clr>
        </p15:guide>
        <p15:guide id="25" pos="7198">
          <p15:clr>
            <a:srgbClr val="EA4335"/>
          </p15:clr>
        </p15:guide>
        <p15:guide id="26" pos="7294">
          <p15:clr>
            <a:srgbClr val="EA4335"/>
          </p15:clr>
        </p15:guide>
        <p15:guide id="27" orient="horz" pos="3936">
          <p15:clr>
            <a:srgbClr val="EA4335"/>
          </p15:clr>
        </p15:guide>
        <p15:guide id="28" orient="horz" pos="384">
          <p15:clr>
            <a:srgbClr val="EA4335"/>
          </p15:clr>
        </p15:guide>
        <p15:guide id="29" pos="3839">
          <p15:clr>
            <a:srgbClr val="EA4335"/>
          </p15:clr>
        </p15:guide>
        <p15:guide id="30" orient="horz" pos="2160">
          <p15:clr>
            <a:srgbClr val="EA4335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Pressure Gauge Reader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AI-assisted gauge reading for refinery operator rounds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Refinery operator rounds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gauge read in minutes, not days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THE OUTCOME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changes for operations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Manual gauge transcription removed per site</a:t>
            </a:r>
          </a:p>
          <a:p>
            <a:r>
              <a:t>Readings no longer outsourced to a third-party vendor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From robot photo to a trusted reading in the review app</a:t>
            </a:r>
          </a:p>
          <a:p>
            <a:r>
              <a:t>Excursions surfaced the same shift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Every low-confidence, unreadable or unexpectedly high reading goes to a human</a:t>
            </a:r>
          </a:p>
          <a:p>
            <a:r>
              <a:t>Every correction audited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>
            <a:r>
              <a:t>[TBD] hrs / week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r>
              <a:t>&lt; 5 minutes</a:t>
            </a:r>
          </a:p>
        </p:txBody>
      </p:sp>
      <p:sp>
        <p:nvSpPr>
          <p:cNvPr id="8" name="Subtitle 7"/>
          <p:cNvSpPr>
            <a:spLocks noGrp="1"/>
          </p:cNvSpPr>
          <p:nvPr>
            <p:ph type="subTitle" idx="6"/>
          </p:nvPr>
        </p:nvSpPr>
        <p:spPr/>
        <p:txBody>
          <a:bodyPr/>
          <a:lstStyle/>
          <a:p>
            <a:r>
              <a:t>100% checked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r>
              <a:t>Robots already photograph the gauges — now every reading is trusted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Value for both sides of the business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Fewer people in hazardous areas for routine rounds: [TBD] exposure hours avoided per year</a:t>
            </a:r>
          </a:p>
          <a:p>
            <a:r>
              <a:t>Vendor dependency removed: [TBD] cost per image today vs. pay-per-token on the platform</a:t>
            </a:r>
          </a:p>
          <a:p>
            <a:r>
              <a:t>Unexpectedly high pressures surfaced the same shift, not at the next manual round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One review queue, sorted by risk: low confidence, unreadable, unexpectedly high</a:t>
            </a:r>
          </a:p>
          <a:p>
            <a:r>
              <a:t>Every correction audited (who, when, why) and fed back to the lakehouse</a:t>
            </a:r>
          </a:p>
          <a:p>
            <a:r>
              <a:t>Ask in plain English: “Are any pressure readings unexpectedly high?”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t>Executive sponsor — VP Operations / HSE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>
            <a:r>
              <a:t>Domain owner — Reliability / Maintenance lead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r>
              <a:t>Built for the executive sponsor and the domain owner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One governed journey: robot photo → trusted reading → answer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2084832"/>
            <a:ext cx="1591056" cy="3182112"/>
          </a:xfrm>
          <a:prstGeom prst="roundRect">
            <a:avLst>
              <a:gd name="adj" fmla="val 8000"/>
            </a:avLst>
          </a:prstGeom>
          <a:solidFill>
            <a:srgbClr val="EEF1F2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16152" y="2468880"/>
            <a:ext cx="1261872" cy="680313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60" b="1">
                <a:solidFill>
                  <a:srgbClr val="FF3621"/>
                </a:solidFill>
                <a:latin typeface="DM Sans"/>
              </a:rPr>
              <a:t>Gauge images</a:t>
            </a:r>
          </a:p>
          <a:p>
            <a:pPr algn="ctr"/>
            <a:r>
              <a:rPr sz="960" b="0">
                <a:solidFill>
                  <a:srgbClr val="1B3037"/>
                </a:solidFill>
                <a:latin typeface="DM Sans"/>
              </a:rPr>
              <a:t>JPG, per round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16152" y="3566160"/>
            <a:ext cx="1261872" cy="680313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60" b="1">
                <a:solidFill>
                  <a:srgbClr val="FF3621"/>
                </a:solidFill>
                <a:latin typeface="DM Sans"/>
              </a:rPr>
              <a:t>Gauge metadata</a:t>
            </a:r>
          </a:p>
          <a:p>
            <a:pPr algn="ctr"/>
            <a:r>
              <a:rPr sz="960" b="0">
                <a:solidFill>
                  <a:srgbClr val="1B3037"/>
                </a:solidFill>
                <a:latin typeface="DM Sans"/>
              </a:rPr>
              <a:t>CSV: tag, site, limits</a:t>
            </a:r>
          </a:p>
        </p:txBody>
      </p:sp>
      <p:sp>
        <p:nvSpPr>
          <p:cNvPr id="8" name="Oval 7"/>
          <p:cNvSpPr/>
          <p:nvPr/>
        </p:nvSpPr>
        <p:spPr>
          <a:xfrm>
            <a:off x="1216152" y="4608575"/>
            <a:ext cx="460857" cy="460857"/>
          </a:xfrm>
          <a:prstGeom prst="ellipse">
            <a:avLst/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internet_of_th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106" y="4691530"/>
            <a:ext cx="294948" cy="2949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09928" y="4608575"/>
            <a:ext cx="877824" cy="46085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840" b="0" i="0">
                <a:solidFill>
                  <a:srgbClr val="1B3037"/>
                </a:solidFill>
                <a:latin typeface="DM Sans"/>
              </a:rPr>
              <a:t>Robot inspection rounds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62072" y="2029967"/>
            <a:ext cx="7351775" cy="3291839"/>
          </a:xfrm>
          <a:prstGeom prst="roundRect">
            <a:avLst>
              <a:gd name="adj" fmla="val 8000"/>
            </a:avLst>
          </a:prstGeom>
          <a:solidFill>
            <a:srgbClr val="FFE4D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26663" y="2578608"/>
            <a:ext cx="1042415" cy="16459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60" b="1">
                <a:solidFill>
                  <a:srgbClr val="FF3621"/>
                </a:solidFill>
                <a:latin typeface="DM Sans"/>
              </a:rPr>
              <a:t>Lakeflow Auto Loader</a:t>
            </a:r>
          </a:p>
          <a:p>
            <a:pPr algn="ctr"/>
            <a:r>
              <a:rPr sz="960" b="0">
                <a:solidFill>
                  <a:srgbClr val="1B3037"/>
                </a:solidFill>
                <a:latin typeface="DM Sans"/>
              </a:rPr>
              <a:t>Incremental, exactly-once ingest from the UC Volume</a:t>
            </a:r>
          </a:p>
        </p:txBody>
      </p:sp>
      <p:sp>
        <p:nvSpPr>
          <p:cNvPr id="13" name="Oval 12"/>
          <p:cNvSpPr/>
          <p:nvPr/>
        </p:nvSpPr>
        <p:spPr>
          <a:xfrm>
            <a:off x="3893515" y="2435961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data_pipeli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768" y="2495214"/>
            <a:ext cx="210677" cy="210677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288536" y="2172614"/>
            <a:ext cx="1371600" cy="680313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60" b="1">
                <a:solidFill>
                  <a:srgbClr val="FF3621"/>
                </a:solidFill>
                <a:latin typeface="DM Sans"/>
              </a:rPr>
              <a:t>Unity AI Gateway</a:t>
            </a:r>
          </a:p>
          <a:p>
            <a:pPr algn="ctr"/>
            <a:r>
              <a:rPr sz="960" b="0">
                <a:solidFill>
                  <a:srgbClr val="1B3037"/>
                </a:solidFill>
                <a:latin typeface="DM Sans"/>
              </a:rPr>
              <a:t>GPT-5.5 vision model</a:t>
            </a:r>
          </a:p>
        </p:txBody>
      </p:sp>
      <p:sp>
        <p:nvSpPr>
          <p:cNvPr id="16" name="Oval 15"/>
          <p:cNvSpPr/>
          <p:nvPr/>
        </p:nvSpPr>
        <p:spPr>
          <a:xfrm>
            <a:off x="5484571" y="2029968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_access_conn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3824" y="2089221"/>
            <a:ext cx="210677" cy="210677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288536" y="3291840"/>
            <a:ext cx="1371600" cy="9326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60" b="1">
                <a:solidFill>
                  <a:srgbClr val="FF3621"/>
                </a:solidFill>
                <a:latin typeface="DM Sans"/>
              </a:rPr>
              <a:t>Bronze</a:t>
            </a:r>
          </a:p>
          <a:p>
            <a:pPr algn="ctr"/>
            <a:r>
              <a:rPr sz="960" b="0">
                <a:solidFill>
                  <a:srgbClr val="1B3037"/>
                </a:solidFill>
                <a:latin typeface="DM Sans"/>
              </a:rPr>
              <a:t>ai_query: reading, unit, scale, confidence</a:t>
            </a:r>
          </a:p>
        </p:txBody>
      </p:sp>
      <p:sp>
        <p:nvSpPr>
          <p:cNvPr id="19" name="Oval 18"/>
          <p:cNvSpPr/>
          <p:nvPr/>
        </p:nvSpPr>
        <p:spPr>
          <a:xfrm>
            <a:off x="5484571" y="3149193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on_unstructured_bronz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3824" y="3208446"/>
            <a:ext cx="210677" cy="210677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879592" y="3291840"/>
            <a:ext cx="1207008" cy="9326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60" b="1">
                <a:solidFill>
                  <a:srgbClr val="FF3621"/>
                </a:solidFill>
                <a:latin typeface="DM Sans"/>
              </a:rPr>
              <a:t>Silver</a:t>
            </a:r>
          </a:p>
          <a:p>
            <a:pPr algn="ctr"/>
            <a:r>
              <a:rPr sz="960" b="0">
                <a:solidFill>
                  <a:srgbClr val="1B3037"/>
                </a:solidFill>
                <a:latin typeface="DM Sans"/>
              </a:rPr>
              <a:t>Parsed readings + quality checks</a:t>
            </a:r>
          </a:p>
        </p:txBody>
      </p:sp>
      <p:sp>
        <p:nvSpPr>
          <p:cNvPr id="22" name="Oval 21"/>
          <p:cNvSpPr/>
          <p:nvPr/>
        </p:nvSpPr>
        <p:spPr>
          <a:xfrm>
            <a:off x="6911035" y="3149193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_semi_structured_sil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0288" y="3208446"/>
            <a:ext cx="210677" cy="210677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7306055" y="3291840"/>
            <a:ext cx="1207008" cy="9326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60" b="1">
                <a:solidFill>
                  <a:srgbClr val="FF3621"/>
                </a:solidFill>
                <a:latin typeface="DM Sans"/>
              </a:rPr>
              <a:t>Gold</a:t>
            </a:r>
          </a:p>
          <a:p>
            <a:pPr algn="ctr"/>
            <a:r>
              <a:rPr sz="960" b="0">
                <a:solidFill>
                  <a:srgbClr val="1B3037"/>
                </a:solidFill>
                <a:latin typeface="DM Sans"/>
              </a:rPr>
              <a:t>Readings + limits + review status</a:t>
            </a:r>
          </a:p>
        </p:txBody>
      </p:sp>
      <p:sp>
        <p:nvSpPr>
          <p:cNvPr id="25" name="Oval 24"/>
          <p:cNvSpPr/>
          <p:nvPr/>
        </p:nvSpPr>
        <p:spPr>
          <a:xfrm>
            <a:off x="8337499" y="3149193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on_delta_tab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6752" y="3208446"/>
            <a:ext cx="210677" cy="210677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306055" y="2172614"/>
            <a:ext cx="1207008" cy="680313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60" b="1">
                <a:solidFill>
                  <a:srgbClr val="FF3621"/>
                </a:solidFill>
                <a:latin typeface="DM Sans"/>
              </a:rPr>
              <a:t>Genie Agent</a:t>
            </a:r>
          </a:p>
          <a:p>
            <a:pPr algn="ctr"/>
            <a:r>
              <a:rPr sz="960" b="0">
                <a:solidFill>
                  <a:srgbClr val="1B3037"/>
                </a:solidFill>
                <a:latin typeface="DM Sans"/>
              </a:rPr>
              <a:t>Ask in plain English</a:t>
            </a:r>
          </a:p>
        </p:txBody>
      </p:sp>
      <p:sp>
        <p:nvSpPr>
          <p:cNvPr id="28" name="Oval 27"/>
          <p:cNvSpPr/>
          <p:nvPr/>
        </p:nvSpPr>
        <p:spPr>
          <a:xfrm>
            <a:off x="8337499" y="2029968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n_a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96752" y="2089221"/>
            <a:ext cx="210677" cy="210677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8787384" y="3291840"/>
            <a:ext cx="1261872" cy="9326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60" b="1">
                <a:solidFill>
                  <a:srgbClr val="FF3621"/>
                </a:solidFill>
                <a:latin typeface="DM Sans"/>
              </a:rPr>
              <a:t>Lakebase</a:t>
            </a:r>
          </a:p>
          <a:p>
            <a:pPr algn="ctr"/>
            <a:r>
              <a:rPr sz="960" b="0">
                <a:solidFill>
                  <a:srgbClr val="1B3037"/>
                </a:solidFill>
                <a:latin typeface="DM Sans"/>
              </a:rPr>
              <a:t>Serving copy + review decisions</a:t>
            </a:r>
          </a:p>
        </p:txBody>
      </p:sp>
      <p:sp>
        <p:nvSpPr>
          <p:cNvPr id="31" name="Oval 30"/>
          <p:cNvSpPr/>
          <p:nvPr/>
        </p:nvSpPr>
        <p:spPr>
          <a:xfrm>
            <a:off x="9873691" y="3149193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on_data_warehous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2944" y="3208446"/>
            <a:ext cx="210677" cy="210677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8787384" y="2172614"/>
            <a:ext cx="1261872" cy="680313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60" b="1">
                <a:solidFill>
                  <a:srgbClr val="FF3621"/>
                </a:solidFill>
                <a:latin typeface="DM Sans"/>
              </a:rPr>
              <a:t>Databricks App</a:t>
            </a:r>
          </a:p>
          <a:p>
            <a:pPr algn="ctr"/>
            <a:r>
              <a:rPr sz="960" b="0">
                <a:solidFill>
                  <a:srgbClr val="1B3037"/>
                </a:solidFill>
                <a:latin typeface="DM Sans"/>
              </a:rPr>
              <a:t>Review queue (React)</a:t>
            </a:r>
          </a:p>
        </p:txBody>
      </p:sp>
      <p:sp>
        <p:nvSpPr>
          <p:cNvPr id="34" name="Oval 33"/>
          <p:cNvSpPr/>
          <p:nvPr/>
        </p:nvSpPr>
        <p:spPr>
          <a:xfrm>
            <a:off x="9873691" y="2029968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con_apps_servic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32944" y="2089221"/>
            <a:ext cx="210677" cy="21067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3026663" y="4443983"/>
            <a:ext cx="7022592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60" b="1">
                <a:solidFill>
                  <a:srgbClr val="FF3621"/>
                </a:solidFill>
                <a:latin typeface="DM Sans"/>
              </a:rPr>
              <a:t>Unity Catalog   </a:t>
            </a:r>
            <a:r>
              <a:rPr sz="960" b="0">
                <a:solidFill>
                  <a:srgbClr val="1B3037"/>
                </a:solidFill>
                <a:latin typeface="DM Sans"/>
              </a:rPr>
              <a:t>explicit grants · lineage · raw volume · governed model access · audit</a:t>
            </a:r>
          </a:p>
        </p:txBody>
      </p:sp>
      <p:sp>
        <p:nvSpPr>
          <p:cNvPr id="37" name="Oval 36"/>
          <p:cNvSpPr/>
          <p:nvPr/>
        </p:nvSpPr>
        <p:spPr>
          <a:xfrm>
            <a:off x="3103473" y="4553712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con_unity_catalo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62726" y="4612965"/>
            <a:ext cx="210677" cy="210677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10378440" y="2172614"/>
            <a:ext cx="1152144" cy="680313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960" b="1">
                <a:solidFill>
                  <a:srgbClr val="FF3621"/>
                </a:solidFill>
                <a:latin typeface="DM Sans"/>
              </a:rPr>
              <a:t>Reviewer</a:t>
            </a:r>
          </a:p>
          <a:p>
            <a:pPr algn="ctr"/>
            <a:r>
              <a:rPr sz="960" b="0">
                <a:solidFill>
                  <a:srgbClr val="1B3037"/>
                </a:solidFill>
                <a:latin typeface="DM Sans"/>
              </a:rPr>
              <a:t>confirm · override · unreadable</a:t>
            </a:r>
          </a:p>
        </p:txBody>
      </p:sp>
      <p:sp>
        <p:nvSpPr>
          <p:cNvPr id="40" name="Oval 39"/>
          <p:cNvSpPr/>
          <p:nvPr/>
        </p:nvSpPr>
        <p:spPr>
          <a:xfrm>
            <a:off x="11355019" y="2029968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con_huma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14272" y="2089221"/>
            <a:ext cx="210677" cy="210677"/>
          </a:xfrm>
          <a:prstGeom prst="rect">
            <a:avLst/>
          </a:prstGeom>
        </p:spPr>
      </p:pic>
      <p:cxnSp>
        <p:nvCxnSpPr>
          <p:cNvPr id="42" name="Connector 41"/>
          <p:cNvCxnSpPr/>
          <p:nvPr/>
        </p:nvCxnSpPr>
        <p:spPr>
          <a:xfrm>
            <a:off x="2478024" y="2809036"/>
            <a:ext cx="548639" cy="263348"/>
          </a:xfrm>
          <a:prstGeom prst="line">
            <a:avLst/>
          </a:prstGeom>
          <a:ln w="15875">
            <a:solidFill>
              <a:srgbClr val="1B3037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478024" y="3730752"/>
            <a:ext cx="548639" cy="175564"/>
          </a:xfrm>
          <a:prstGeom prst="line">
            <a:avLst/>
          </a:prstGeom>
          <a:ln w="15875">
            <a:solidFill>
              <a:srgbClr val="1B3037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423160" y="3236975"/>
            <a:ext cx="658368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719" b="0" i="0">
                <a:solidFill>
                  <a:srgbClr val="1B3037"/>
                </a:solidFill>
                <a:latin typeface="DM Sans"/>
              </a:rPr>
              <a:t>UC Volume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069079" y="3752697"/>
            <a:ext cx="219457" cy="0"/>
          </a:xfrm>
          <a:prstGeom prst="line">
            <a:avLst/>
          </a:prstGeom>
          <a:ln w="15875">
            <a:solidFill>
              <a:srgbClr val="1B3037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968849" y="2852928"/>
            <a:ext cx="0" cy="438912"/>
          </a:xfrm>
          <a:prstGeom prst="line">
            <a:avLst/>
          </a:prstGeom>
          <a:ln w="15875">
            <a:solidFill>
              <a:srgbClr val="1B3037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660136" y="3752697"/>
            <a:ext cx="219456" cy="0"/>
          </a:xfrm>
          <a:prstGeom prst="line">
            <a:avLst/>
          </a:prstGeom>
          <a:ln w="15875">
            <a:solidFill>
              <a:srgbClr val="1B3037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086599" y="3752697"/>
            <a:ext cx="219456" cy="0"/>
          </a:xfrm>
          <a:prstGeom prst="line">
            <a:avLst/>
          </a:prstGeom>
          <a:ln w="15875">
            <a:solidFill>
              <a:srgbClr val="1B3037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7909560" y="2852928"/>
            <a:ext cx="0" cy="438912"/>
          </a:xfrm>
          <a:prstGeom prst="line">
            <a:avLst/>
          </a:prstGeom>
          <a:ln w="15875">
            <a:solidFill>
              <a:srgbClr val="1B3037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513063" y="2512771"/>
            <a:ext cx="274321" cy="0"/>
          </a:xfrm>
          <a:prstGeom prst="line">
            <a:avLst/>
          </a:prstGeom>
          <a:ln w="15875">
            <a:solidFill>
              <a:srgbClr val="1B3037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513063" y="3566160"/>
            <a:ext cx="274321" cy="0"/>
          </a:xfrm>
          <a:prstGeom prst="line">
            <a:avLst/>
          </a:prstGeom>
          <a:ln w="15875">
            <a:solidFill>
              <a:srgbClr val="1B3037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8513063" y="4005072"/>
            <a:ext cx="274321" cy="0"/>
          </a:xfrm>
          <a:prstGeom prst="line">
            <a:avLst/>
          </a:prstGeom>
          <a:ln w="15875">
            <a:solidFill>
              <a:srgbClr val="1B3037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216798" y="4125772"/>
            <a:ext cx="877824" cy="24140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660" b="0" i="1">
                <a:solidFill>
                  <a:srgbClr val="1B3037"/>
                </a:solidFill>
                <a:latin typeface="DM Sans"/>
              </a:rPr>
              <a:t>Lakehouse Sync (CDC)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412833" y="2852928"/>
            <a:ext cx="0" cy="438912"/>
          </a:xfrm>
          <a:prstGeom prst="line">
            <a:avLst/>
          </a:prstGeom>
          <a:ln w="15875">
            <a:solidFill>
              <a:srgbClr val="1B3037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049255" y="2512771"/>
            <a:ext cx="329185" cy="0"/>
          </a:xfrm>
          <a:prstGeom prst="line">
            <a:avLst/>
          </a:prstGeom>
          <a:ln w="15875">
            <a:solidFill>
              <a:srgbClr val="1B3037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051560" y="5431536"/>
            <a:ext cx="10479024" cy="4389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40" b="0" i="0">
                <a:solidFill>
                  <a:srgbClr val="5F6B70"/>
                </a:solidFill>
                <a:latin typeface="DM Sans"/>
              </a:rPr>
              <a:t>Each image is read once inside the streaming table · gold applies each gauge's operating limit · reviewer decisions flow back to Delta through Lakehouse Sync · Genie runs with the signed-in user's permissions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one inspection round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Tell the problem · show the app and Genie · tell the 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2769"/>
            <a:ext cx="1904329" cy="2032711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4" b="1">
                <a:solidFill>
                  <a:srgbClr val="FF3621"/>
                </a:solidFill>
                <a:latin typeface="DM Sans"/>
              </a:rPr>
              <a:t>1  Land</a:t>
            </a:r>
          </a:p>
          <a:p>
            <a:pPr algn="ctr"/>
            <a:r>
              <a:rPr sz="1404" b="0">
                <a:solidFill>
                  <a:srgbClr val="1B3037"/>
                </a:solidFill>
                <a:latin typeface="DM Sans"/>
              </a:rPr>
              <a:t>30 gauge photos and the round's metadata arrive in the raw volume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81569" y="3059125"/>
            <a:ext cx="213970" cy="0"/>
          </a:xfrm>
          <a:prstGeom prst="line">
            <a:avLst/>
          </a:prstGeom>
          <a:ln w="15875">
            <a:solidFill>
              <a:srgbClr val="1B3037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95539" y="2042769"/>
            <a:ext cx="1904329" cy="2032711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4" b="1">
                <a:solidFill>
                  <a:srgbClr val="FF3621"/>
                </a:solidFill>
                <a:latin typeface="DM Sans"/>
              </a:rPr>
              <a:t>2  Read</a:t>
            </a:r>
          </a:p>
          <a:p>
            <a:pPr algn="ctr"/>
            <a:r>
              <a:rPr sz="1404" b="0">
                <a:solidFill>
                  <a:srgbClr val="1B3037"/>
                </a:solidFill>
                <a:latin typeface="DM Sans"/>
              </a:rPr>
              <a:t>The pipeline reads every dial once: value, unit, confidence, image issues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99868" y="3059125"/>
            <a:ext cx="213970" cy="0"/>
          </a:xfrm>
          <a:prstGeom prst="line">
            <a:avLst/>
          </a:prstGeom>
          <a:ln w="15875">
            <a:solidFill>
              <a:srgbClr val="1B3037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13838" y="2042769"/>
            <a:ext cx="1904329" cy="2032711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4" b="1">
                <a:solidFill>
                  <a:srgbClr val="FF3621"/>
                </a:solidFill>
                <a:latin typeface="DM Sans"/>
              </a:rPr>
              <a:t>3  Triage</a:t>
            </a:r>
          </a:p>
          <a:p>
            <a:pPr algn="ctr"/>
            <a:r>
              <a:rPr sz="1404" b="0">
                <a:solidFill>
                  <a:srgbClr val="1B3037"/>
                </a:solidFill>
                <a:latin typeface="DM Sans"/>
              </a:rPr>
              <a:t>Review queue: readings needing a human, unexpectedly high ones, one unreadable dial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18167" y="3059125"/>
            <a:ext cx="213970" cy="0"/>
          </a:xfrm>
          <a:prstGeom prst="line">
            <a:avLst/>
          </a:prstGeom>
          <a:ln w="15875">
            <a:solidFill>
              <a:srgbClr val="1B3037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132137" y="2042769"/>
            <a:ext cx="1904329" cy="2032711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4" b="1">
                <a:solidFill>
                  <a:srgbClr val="FF3621"/>
                </a:solidFill>
                <a:latin typeface="DM Sans"/>
              </a:rPr>
              <a:t>4  Correct</a:t>
            </a:r>
          </a:p>
          <a:p>
            <a:pPr algn="ctr"/>
            <a:r>
              <a:rPr sz="1404" b="0">
                <a:solidFill>
                  <a:srgbClr val="1B3037"/>
                </a:solidFill>
                <a:latin typeface="DM Sans"/>
              </a:rPr>
              <a:t>A reviewer fixes a misread needle (5.0 → 1.0 bar) with a reason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36466" y="3059125"/>
            <a:ext cx="213970" cy="0"/>
          </a:xfrm>
          <a:prstGeom prst="line">
            <a:avLst/>
          </a:prstGeom>
          <a:ln w="15875">
            <a:solidFill>
              <a:srgbClr val="1B3037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250436" y="2042769"/>
            <a:ext cx="1904329" cy="2032711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61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4" b="1">
                <a:solidFill>
                  <a:srgbClr val="FF3621"/>
                </a:solidFill>
                <a:latin typeface="DM Sans"/>
              </a:rPr>
              <a:t>5  Ask</a:t>
            </a:r>
          </a:p>
          <a:p>
            <a:pPr algn="ctr"/>
            <a:r>
              <a:rPr sz="1404" b="0">
                <a:solidFill>
                  <a:srgbClr val="1B3037"/>
                </a:solidFill>
                <a:latin typeface="DM Sans"/>
              </a:rPr>
              <a:t>“Which readings have needed human intervention?” — Genie answers with 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49927"/>
            <a:ext cx="10377525" cy="427939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53" b="0" i="0">
                <a:solidFill>
                  <a:srgbClr val="5F6B70"/>
                </a:solidFill>
                <a:latin typeface="DM Sans"/>
              </a:rPr>
              <a:t>Everything shown runs on synthetic metadata and publicly licensed gauge photos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Governed AI with a human in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Confidence below 70%, unreadable dials and unexpectedly high readings always go to a reviewer</a:t>
            </a:r>
          </a:p>
          <a:p>
            <a:r>
              <a:t>Decisions are appended, never overwritten</a:t>
            </a:r>
          </a:p>
          <a:p>
            <a:r>
              <a:t>Human correction rate tracked as live accuracy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Analysts see the gold table only; the app reads images read-only</a:t>
            </a:r>
          </a:p>
          <a:p>
            <a:r>
              <a:t>Lineage from raw image to the answer in Genie</a:t>
            </a:r>
          </a:p>
          <a:p>
            <a:r>
              <a:t>Genie runs with the user's own permissions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Every model call attributed: requester, tokens, latency, status</a:t>
            </a:r>
          </a:p>
          <a:p>
            <a:r>
              <a:t>Model access governed by UC EXECUTE</a:t>
            </a:r>
          </a:p>
          <a:p>
            <a:r>
              <a:t>Swap or fall back models without pipeline changes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>
            <a:r>
              <a:t>Human in the loop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r>
              <a:t>Unity Catalog</a:t>
            </a:r>
          </a:p>
        </p:txBody>
      </p:sp>
      <p:sp>
        <p:nvSpPr>
          <p:cNvPr id="8" name="Subtitle 7"/>
          <p:cNvSpPr>
            <a:spLocks noGrp="1"/>
          </p:cNvSpPr>
          <p:nvPr>
            <p:ph type="subTitle" idx="6"/>
          </p:nvPr>
        </p:nvSpPr>
        <p:spPr/>
        <p:txBody>
          <a:bodyPr/>
          <a:lstStyle/>
          <a:p>
            <a:r>
              <a:t>Unity AI Gateway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r>
              <a:t>AI reads, people decide where it matters, the platform keeps the record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Decisions and trade-offs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700"/>
              <a:t>Foundation vision model via ai_query, not a custom CNN: no labelled data or training; confidence-based review covers the gaps</a:t>
            </a:r>
          </a:p>
          <a:p>
            <a:r>
              <a:rPr sz="1700"/>
              <a:t>Model called inside the streaming table: each image read and billed once; reviewed readings never change on refresh</a:t>
            </a:r>
          </a:p>
          <a:p>
            <a:r>
              <a:rPr sz="1700"/>
              <a:t>Lakebase for the review step: low-latency transactional writes; decisions return to Delta via Lakehouse Sync</a:t>
            </a:r>
          </a:p>
          <a:p>
            <a:r>
              <a:rPr sz="1700"/>
              <a:t>Snapshot sync for serving: gold is a materialized view; at ~120 images/day a snapshot takes seconds</a:t>
            </a:r>
          </a:p>
          <a:p>
            <a:r>
              <a:rPr sz="1700"/>
              <a:t>“Unexpectedly high” = above the gauge's operating limit (default 75% of full scale), so Genie never invents thresholds</a:t>
            </a:r>
          </a:p>
          <a:p>
            <a:r>
              <a:rPr sz="1700"/>
              <a:t>GPT-5.5 chosen after testing 15 vision models: best accuracy among batch-capable models, with a confidence score that separates right from wrong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Why this approach and not another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Path to production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600"/>
              <a:t>Connect the robot fleet's image export to the raw volume (file-arrival trigger in place)</a:t>
            </a:r>
          </a:p>
          <a:p>
            <a:r>
              <a:rPr sz="1600"/>
              <a:t>Load real gauge tags and operating limits from the asset register</a:t>
            </a:r>
          </a:p>
          <a:p>
            <a:r>
              <a:rPr sz="1600"/>
              <a:t>Alert on unexpectedly high readings into the maintenance work-order system</a:t>
            </a:r>
          </a:p>
          <a:p>
            <a:r>
              <a:rPr sz="1600"/>
              <a:t>Promote with Declarative Automation Bundles (dev → prod) and named reviewer / analyst groups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sz="1600"/>
              <a:t>Pilot success criteria</a:t>
            </a:r>
          </a:p>
          <a:p>
            <a:r>
              <a:rPr sz="1600"/>
              <a:t>One site, [TBD] weeks</a:t>
            </a:r>
          </a:p>
          <a:p>
            <a:r>
              <a:rPr sz="1600"/>
              <a:t>Human correction rate below [TBD]%</a:t>
            </a:r>
          </a:p>
          <a:p>
            <a:r>
              <a:rPr sz="1600"/>
              <a:t>[TBD] hours of manual rounds removed</a:t>
            </a:r>
          </a:p>
          <a:p>
            <a:r>
              <a:rPr sz="1600"/>
              <a:t>Every reading traceable from photo to answer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From one demo round to a site pilot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gauge read, every decision governed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atabricks Theme: Light">
  <a:themeElements>
    <a:clrScheme name="Office">
      <a:dk1>
        <a:srgbClr val="0B2026"/>
      </a:dk1>
      <a:lt1>
        <a:srgbClr val="F9F7F4"/>
      </a:lt1>
      <a:dk2>
        <a:srgbClr val="FF5F46"/>
      </a:dk2>
      <a:lt2>
        <a:srgbClr val="EEEDE9"/>
      </a:lt2>
      <a:accent1>
        <a:srgbClr val="1B5162"/>
      </a:accent1>
      <a:accent2>
        <a:srgbClr val="00A972"/>
      </a:accent2>
      <a:accent3>
        <a:srgbClr val="98102A"/>
      </a:accent3>
      <a:accent4>
        <a:srgbClr val="FFAB00"/>
      </a:accent4>
      <a:accent5>
        <a:srgbClr val="618794"/>
      </a:accent5>
      <a:accent6>
        <a:srgbClr val="4299E0"/>
      </a:accent6>
      <a:hlink>
        <a:srgbClr val="FF362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