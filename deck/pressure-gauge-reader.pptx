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customer and the business persona: operations leadership at a refinery running robot inspection 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outcome for the executive sponsor. Replace [TBD] with the impact model: rounds/day x gauges x minutes x loaded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value for both personas the AI roleplay will play: the business stakeholder and the technical/domain stakeholder.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land, read, refine, serve, review, ask. Point out the closed loop (dashed arrow) and the Unity Catalog band under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live demo under 8 minutes. Have the PI-3102 correction ready as the human-in-the-loop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DM Sans"/>
              </a:rPr>
              <a:t>Pressure Gauge Reader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78638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5F6368"/>
                </a:solidFill>
                <a:latin typeface="DM Sans"/>
              </a:rPr>
              <a:t>From robot inspection photos to trusted, governed gauge readings in minutes — with a human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23360"/>
            <a:ext cx="54864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5F6368"/>
                </a:solidFill>
                <a:latin typeface="DM Sans"/>
              </a:rPr>
              <a:t>Refinery operator rounds · Databricks Data Intelligence Platform</a:t>
            </a:r>
          </a:p>
        </p:txBody>
      </p:sp>
      <p:pic>
        <p:nvPicPr>
          <p:cNvPr id="5" name="Picture 4" descr="databricks_logo.png"/>
          <p:cNvPicPr>
            <a:picLocks noChangeAspect="1"/>
          </p:cNvPicPr>
          <p:nvPr/>
        </p:nvPicPr>
        <p:blipFill>
          <a:blip r:embed="rId2"/>
          <a:srcRect l="22000" r="22000"/>
          <a:stretch>
            <a:fillRect/>
          </a:stretch>
        </p:blipFill>
        <p:spPr>
          <a:xfrm>
            <a:off x="7863840" y="3931920"/>
            <a:ext cx="546201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DM Sans"/>
              </a:rPr>
              <a:t>Every gauge read in minutes, not days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F4CCC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600" b="0">
                <a:solidFill>
                  <a:srgbClr val="4285F4"/>
                </a:solidFill>
                <a:latin typeface="DM Sans"/>
              </a:rPr>
              <a:t>[TBD] hrs / week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DM Sans"/>
              </a:rPr>
              <a:t>of manual gauge transcription removed per 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39" y="123444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F4CCC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600" b="0">
                <a:solidFill>
                  <a:srgbClr val="4285F4"/>
                </a:solidFill>
                <a:latin typeface="DM Sans"/>
              </a:rPr>
              <a:t>&lt; 5 min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DM Sans"/>
              </a:rPr>
              <a:t>from robot photo to a trusted reading in the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59" y="123444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F4CCC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600" b="0">
                <a:solidFill>
                  <a:srgbClr val="4285F4"/>
                </a:solidFill>
                <a:latin typeface="DM Sans"/>
              </a:rPr>
              <a:t>100%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DM Sans"/>
              </a:rPr>
              <a:t>of excursions and low-confidence readings checked by a human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71800"/>
            <a:ext cx="8138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Inspection robots already photograph hundreds of analog gauges per round — but readings are still transcribed by hand or by a third-party vendor, outside the data platform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A vision model now reads every image as it lands, with a confidence score; only uncertain or out-of-limit readings go to a reviewer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Readings, corrections and excursions are governed in one place and can be queried in plain English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DM Sans"/>
              </a:rPr>
              <a:t>Value for both sides of the business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3977639" cy="2514600"/>
          </a:xfrm>
          <a:prstGeom prst="roundRect">
            <a:avLst>
              <a:gd name="adj" fmla="val 12000"/>
            </a:avLst>
          </a:prstGeom>
          <a:solidFill>
            <a:srgbClr val="F4CCC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36576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4285F4"/>
                </a:solidFill>
                <a:latin typeface="DM Sans"/>
              </a:rPr>
              <a:t>Executive sponsor — VP Operations / HSE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Fewer people in hazardous areas for routine rounds: [TBD] exposure hours avoided per year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Vendor dependency removed: [TBD] cost per image today vs. pay-per-token on the platform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Excursions surfaced the same shift, not at the next manual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143000"/>
            <a:ext cx="3977639" cy="2514600"/>
          </a:xfrm>
          <a:prstGeom prst="roundRect">
            <a:avLst>
              <a:gd name="adj" fmla="val 12000"/>
            </a:avLst>
          </a:prstGeom>
          <a:solidFill>
            <a:srgbClr val="F4CCC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280160"/>
            <a:ext cx="36576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4285F4"/>
                </a:solidFill>
                <a:latin typeface="DM Sans"/>
              </a:rPr>
              <a:t>Domain owner — Reliability / Maintenance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One review queue, sorted by risk: low confidence, unreadable, above limit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Every correction audited (who, when, why) and fed back to the lakehouse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Ask questions in plain English: “Are any pressures unusually high?”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DM Sans"/>
              </a:rPr>
              <a:t>Architecture: one governed data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914400"/>
            <a:ext cx="1325880" cy="2651760"/>
          </a:xfrm>
          <a:prstGeom prst="roundRect">
            <a:avLst>
              <a:gd name="adj" fmla="val 12000"/>
            </a:avLst>
          </a:prstGeom>
          <a:solidFill>
            <a:srgbClr val="F4CCC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051560" cy="566928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Gauge images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(JPG, per round)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48840"/>
            <a:ext cx="1051560" cy="566928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Gauge metadata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(CSV: tag, site, limits)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3017520"/>
            <a:ext cx="384048" cy="384048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_internet_of_th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88" y="3086648"/>
            <a:ext cx="245790" cy="2457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017520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DM Sans"/>
              </a:rPr>
              <a:t>Robot inspection rounds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868680"/>
            <a:ext cx="6126480" cy="2743200"/>
          </a:xfrm>
          <a:prstGeom prst="roundRect">
            <a:avLst>
              <a:gd name="adj" fmla="val 12000"/>
            </a:avLst>
          </a:prstGeom>
          <a:solidFill>
            <a:srgbClr val="F4CCC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74519" y="1325880"/>
            <a:ext cx="868680" cy="1371600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Lakeflow
Auto Loader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Incremental, exactly-once ingest from the UC Volume</a:t>
            </a:r>
          </a:p>
        </p:txBody>
      </p:sp>
      <p:sp>
        <p:nvSpPr>
          <p:cNvPr id="11" name="Oval 10"/>
          <p:cNvSpPr/>
          <p:nvPr/>
        </p:nvSpPr>
        <p:spPr>
          <a:xfrm>
            <a:off x="2596896" y="1207007"/>
            <a:ext cx="274320" cy="274320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data_pipe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273" y="1256385"/>
            <a:ext cx="175564" cy="1755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926080" y="987552"/>
            <a:ext cx="1143000" cy="566928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Unity AI Gateway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GPT-5.5 vision model</a:t>
            </a:r>
          </a:p>
        </p:txBody>
      </p:sp>
      <p:sp>
        <p:nvSpPr>
          <p:cNvPr id="14" name="Oval 13"/>
          <p:cNvSpPr/>
          <p:nvPr/>
        </p:nvSpPr>
        <p:spPr>
          <a:xfrm>
            <a:off x="3922776" y="868680"/>
            <a:ext cx="274320" cy="274320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access_conn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153" y="918057"/>
            <a:ext cx="175564" cy="1755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926080" y="1920240"/>
            <a:ext cx="1143000" cy="777240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Bronze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ai_query: reading, unit, scale, confidence</a:t>
            </a:r>
          </a:p>
        </p:txBody>
      </p:sp>
      <p:sp>
        <p:nvSpPr>
          <p:cNvPr id="17" name="Oval 16"/>
          <p:cNvSpPr/>
          <p:nvPr/>
        </p:nvSpPr>
        <p:spPr>
          <a:xfrm>
            <a:off x="3922776" y="1801368"/>
            <a:ext cx="274320" cy="274320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unstructured_bron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2153" y="1850745"/>
            <a:ext cx="175564" cy="17556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251960" y="1920240"/>
            <a:ext cx="1005840" cy="777240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Silver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Parsed readings + quality checks</a:t>
            </a:r>
          </a:p>
        </p:txBody>
      </p:sp>
      <p:sp>
        <p:nvSpPr>
          <p:cNvPr id="20" name="Oval 19"/>
          <p:cNvSpPr/>
          <p:nvPr/>
        </p:nvSpPr>
        <p:spPr>
          <a:xfrm>
            <a:off x="5111496" y="1801368"/>
            <a:ext cx="274320" cy="274320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semi_structured_sil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0873" y="1850745"/>
            <a:ext cx="175564" cy="17556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440680" y="1920240"/>
            <a:ext cx="1005840" cy="777240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Gold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Readings + limits + review status</a:t>
            </a:r>
          </a:p>
        </p:txBody>
      </p:sp>
      <p:sp>
        <p:nvSpPr>
          <p:cNvPr id="23" name="Oval 22"/>
          <p:cNvSpPr/>
          <p:nvPr/>
        </p:nvSpPr>
        <p:spPr>
          <a:xfrm>
            <a:off x="6300216" y="1801368"/>
            <a:ext cx="274320" cy="274320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delta_tab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9593" y="1850745"/>
            <a:ext cx="175564" cy="17556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440680" y="987552"/>
            <a:ext cx="1005840" cy="566928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Genie Agent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Ask in plain English</a:t>
            </a:r>
          </a:p>
        </p:txBody>
      </p:sp>
      <p:sp>
        <p:nvSpPr>
          <p:cNvPr id="26" name="Oval 25"/>
          <p:cNvSpPr/>
          <p:nvPr/>
        </p:nvSpPr>
        <p:spPr>
          <a:xfrm>
            <a:off x="6300216" y="868680"/>
            <a:ext cx="274320" cy="274320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9593" y="918057"/>
            <a:ext cx="175564" cy="17556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675120" y="1920240"/>
            <a:ext cx="1051560" cy="777240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Lakebase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Serving copy + review decisions</a:t>
            </a:r>
          </a:p>
        </p:txBody>
      </p:sp>
      <p:sp>
        <p:nvSpPr>
          <p:cNvPr id="29" name="Oval 28"/>
          <p:cNvSpPr/>
          <p:nvPr/>
        </p:nvSpPr>
        <p:spPr>
          <a:xfrm>
            <a:off x="7580375" y="1801368"/>
            <a:ext cx="274320" cy="274320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_data_warehou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9753" y="1850745"/>
            <a:ext cx="175564" cy="17556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675120" y="987552"/>
            <a:ext cx="1051560" cy="566928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Databricks App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Review queue (React)</a:t>
            </a:r>
          </a:p>
        </p:txBody>
      </p:sp>
      <p:sp>
        <p:nvSpPr>
          <p:cNvPr id="32" name="Oval 31"/>
          <p:cNvSpPr/>
          <p:nvPr/>
        </p:nvSpPr>
        <p:spPr>
          <a:xfrm>
            <a:off x="7580375" y="868680"/>
            <a:ext cx="274320" cy="274320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_apps_servic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9753" y="918057"/>
            <a:ext cx="175564" cy="17556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874519" y="2880360"/>
            <a:ext cx="5120640" cy="457200"/>
          </a:xfrm>
          <a:prstGeom prst="roundRect">
            <a:avLst>
              <a:gd name="adj" fmla="val 30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Unity Catalog  </a:t>
            </a:r>
            <a:r>
              <a:rPr sz="800" b="0">
                <a:solidFill>
                  <a:srgbClr val="000000"/>
                </a:solidFill>
                <a:latin typeface="DM Sans"/>
              </a:rPr>
              <a:t>explicit grants · lineage · raw volume · governed model access · audit</a:t>
            </a:r>
          </a:p>
        </p:txBody>
      </p:sp>
      <p:sp>
        <p:nvSpPr>
          <p:cNvPr id="35" name="Oval 34"/>
          <p:cNvSpPr/>
          <p:nvPr/>
        </p:nvSpPr>
        <p:spPr>
          <a:xfrm>
            <a:off x="1938528" y="2971800"/>
            <a:ext cx="274320" cy="274320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_unity_catalo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7905" y="3021177"/>
            <a:ext cx="175564" cy="175564"/>
          </a:xfrm>
          <a:prstGeom prst="rect">
            <a:avLst/>
          </a:prstGeom>
        </p:spPr>
      </p:pic>
      <p:pic>
        <p:nvPicPr>
          <p:cNvPr id="37" name="Picture 36" descr="databricks_logo.png"/>
          <p:cNvPicPr>
            <a:picLocks noChangeAspect="1"/>
          </p:cNvPicPr>
          <p:nvPr/>
        </p:nvPicPr>
        <p:blipFill>
          <a:blip r:embed="rId12"/>
          <a:srcRect l="22000" r="22000"/>
          <a:stretch>
            <a:fillRect/>
          </a:stretch>
        </p:blipFill>
        <p:spPr>
          <a:xfrm>
            <a:off x="7178040" y="2971800"/>
            <a:ext cx="455168" cy="4572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01000" y="987552"/>
            <a:ext cx="960120" cy="566928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00" b="0">
                <a:solidFill>
                  <a:srgbClr val="4285F4"/>
                </a:solidFill>
                <a:latin typeface="DM Sans"/>
              </a:rPr>
              <a:t>Reviewer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DM Sans"/>
              </a:rPr>
              <a:t>confirm · override · unreadable</a:t>
            </a:r>
          </a:p>
        </p:txBody>
      </p:sp>
      <p:sp>
        <p:nvSpPr>
          <p:cNvPr id="39" name="Oval 38"/>
          <p:cNvSpPr/>
          <p:nvPr/>
        </p:nvSpPr>
        <p:spPr>
          <a:xfrm>
            <a:off x="8814816" y="868680"/>
            <a:ext cx="274320" cy="274320"/>
          </a:xfrm>
          <a:prstGeom prst="ellipse">
            <a:avLst/>
          </a:prstGeom>
          <a:solidFill>
            <a:srgbClr val="FFFFFF"/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con_hum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4193" y="918057"/>
            <a:ext cx="175564" cy="175564"/>
          </a:xfrm>
          <a:prstGeom prst="rect">
            <a:avLst/>
          </a:prstGeom>
        </p:spPr>
      </p:pic>
      <p:cxnSp>
        <p:nvCxnSpPr>
          <p:cNvPr id="41" name="Connector 40"/>
          <p:cNvCxnSpPr/>
          <p:nvPr/>
        </p:nvCxnSpPr>
        <p:spPr>
          <a:xfrm>
            <a:off x="1417320" y="1517904"/>
            <a:ext cx="457199" cy="219456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17320" y="2286000"/>
            <a:ext cx="457199" cy="146304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371600" y="1874519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600" b="0">
                <a:solidFill>
                  <a:srgbClr val="000000"/>
                </a:solidFill>
                <a:latin typeface="DM Sans"/>
              </a:rPr>
              <a:t>UC Volume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743200" y="2304288"/>
            <a:ext cx="182880" cy="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493008" y="1554480"/>
            <a:ext cx="0" cy="36576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069080" y="2304288"/>
            <a:ext cx="182880" cy="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57800" y="2304288"/>
            <a:ext cx="182880" cy="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943600" y="1554480"/>
            <a:ext cx="0" cy="36576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446520" y="1271016"/>
            <a:ext cx="228600" cy="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446520" y="2148840"/>
            <a:ext cx="228600" cy="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446520" y="2514600"/>
            <a:ext cx="22860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99632" y="2615184"/>
            <a:ext cx="731520" cy="2011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550" b="0" i="1">
                <a:solidFill>
                  <a:srgbClr val="000000"/>
                </a:solidFill>
                <a:latin typeface="DM Sans"/>
              </a:rPr>
              <a:t>Lakehouse Sync (CDC)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196328" y="1554480"/>
            <a:ext cx="0" cy="365760"/>
          </a:xfrm>
          <a:prstGeom prst="line">
            <a:avLst/>
          </a:prstGeom>
          <a:ln w="12700">
            <a:solidFill>
              <a:srgbClr val="00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26679" y="1271016"/>
            <a:ext cx="274321" cy="0"/>
          </a:xfrm>
          <a:prstGeom prst="line">
            <a:avLst/>
          </a:prstGeom>
          <a:ln w="12700">
            <a:solidFill>
              <a:srgbClr val="00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2920" y="3703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Aft>
                <a:spcPts val="300"/>
              </a:spcAft>
              <a:buChar char="•"/>
            </a:pPr>
            <a:r>
              <a:rPr sz="1050">
                <a:solidFill>
                  <a:srgbClr val="000000"/>
                </a:solidFill>
                <a:latin typeface="DM Sans"/>
              </a:rPr>
              <a:t>Auto Loader reads each new image once; the vision model is called inside the streaming table via Unity AI Gateway (usage, cost and access governed)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050">
                <a:solidFill>
                  <a:srgbClr val="000000"/>
                </a:solidFill>
                <a:latin typeface="DM Sans"/>
              </a:rPr>
              <a:t>Gold applies each gauge's operating limit and flags readings that need a human: low confidence, unreadable, or above limit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050">
                <a:solidFill>
                  <a:srgbClr val="000000"/>
                </a:solidFill>
                <a:latin typeface="DM Sans"/>
              </a:rPr>
              <a:t>Reviewers work in a React app on Lakebase; decisions flow back to Delta through Lakehouse Sync and into gold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050">
                <a:solidFill>
                  <a:srgbClr val="000000"/>
                </a:solidFill>
                <a:latin typeface="DM Sans"/>
              </a:rPr>
              <a:t>Genie answers plain-English questions over the governed gold table, on behalf of the signed-in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DM Sans"/>
              </a:rPr>
              <a:t>Demo: one inspection 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72768" cy="1600200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0">
                <a:solidFill>
                  <a:srgbClr val="4285F4"/>
                </a:solidFill>
                <a:latin typeface="DM Sans"/>
              </a:rPr>
              <a:t>1  Land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DM Sans"/>
              </a:rPr>
              <a:t>30 gauge photos and the round's metadata arrive in the raw volume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38528" y="2075688"/>
            <a:ext cx="146303" cy="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84831" y="1280160"/>
            <a:ext cx="1572768" cy="1600200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0">
                <a:solidFill>
                  <a:srgbClr val="4285F4"/>
                </a:solidFill>
                <a:latin typeface="DM Sans"/>
              </a:rPr>
              <a:t>2  Read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DM Sans"/>
              </a:rPr>
              <a:t>Pipeline reads every dial once: value, unit, confidence, image issues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2075688"/>
            <a:ext cx="146304" cy="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03904" y="1280160"/>
            <a:ext cx="1572768" cy="1600200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0">
                <a:solidFill>
                  <a:srgbClr val="4285F4"/>
                </a:solidFill>
                <a:latin typeface="DM Sans"/>
              </a:rPr>
              <a:t>3  Triage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DM Sans"/>
              </a:rPr>
              <a:t>Review queue: 9 readings need a human, 4 above limit, 1 unreadable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76672" y="2075688"/>
            <a:ext cx="146304" cy="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22976" y="1280160"/>
            <a:ext cx="1572768" cy="1600200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0">
                <a:solidFill>
                  <a:srgbClr val="4285F4"/>
                </a:solidFill>
                <a:latin typeface="DM Sans"/>
              </a:rPr>
              <a:t>4  Correct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DM Sans"/>
              </a:rPr>
              <a:t>Reviewer fixes a misread needle (5.0 → 1.0 bar) with a reason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95744" y="2075688"/>
            <a:ext cx="146304" cy="0"/>
          </a:xfrm>
          <a:prstGeom prst="line">
            <a:avLst/>
          </a:prstGeom>
          <a:ln w="12700">
            <a:solidFill>
              <a:srgbClr val="00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42048" y="1280160"/>
            <a:ext cx="1572768" cy="1600200"/>
          </a:xfrm>
          <a:prstGeom prst="roundRect">
            <a:avLst>
              <a:gd name="adj" fmla="val 16000"/>
            </a:avLst>
          </a:prstGeom>
          <a:solidFill>
            <a:srgbClr val="FFFFFF">
              <a:alpha val="76000"/>
            </a:srgbClr>
          </a:solidFill>
          <a:ln w="71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00" b="0">
                <a:solidFill>
                  <a:srgbClr val="4285F4"/>
                </a:solidFill>
                <a:latin typeface="DM Sans"/>
              </a:rPr>
              <a:t>5  Ask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DM Sans"/>
              </a:rPr>
              <a:t>“Which readings have needed human intervention?” — Genie answers with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Tell: the problem and the outcome  ·  Show: the app and Genie  ·  Tell: what it means for the business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Everything shown runs on synthetic metadata and publicly licensed gauge photos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DM Sans"/>
              </a:rPr>
              <a:t>Trust: governed AI with a human in the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697480" cy="2514600"/>
          </a:xfrm>
          <a:prstGeom prst="roundRect">
            <a:avLst>
              <a:gd name="adj" fmla="val 12000"/>
            </a:avLst>
          </a:prstGeom>
          <a:solidFill>
            <a:srgbClr val="F4CCC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24688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4285F4"/>
                </a:solidFill>
                <a:latin typeface="DM Sans"/>
              </a:rPr>
              <a:t>Human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514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Aft>
                <a:spcPts val="300"/>
              </a:spcAft>
              <a:buChar char="•"/>
            </a:pPr>
            <a:r>
              <a:rPr sz="1100">
                <a:solidFill>
                  <a:srgbClr val="000000"/>
                </a:solidFill>
                <a:latin typeface="DM Sans"/>
              </a:rPr>
              <a:t>Confidence below 70%, unreadable dials and excursions always go to a reviewer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100">
                <a:solidFill>
                  <a:srgbClr val="000000"/>
                </a:solidFill>
                <a:latin typeface="DM Sans"/>
              </a:rPr>
              <a:t>Every decision is appended (never overwritten) and audited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100">
                <a:solidFill>
                  <a:srgbClr val="000000"/>
                </a:solidFill>
                <a:latin typeface="DM Sans"/>
              </a:rPr>
              <a:t>Human correction rate tracked as live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97280"/>
            <a:ext cx="2697480" cy="2514600"/>
          </a:xfrm>
          <a:prstGeom prst="roundRect">
            <a:avLst>
              <a:gd name="adj" fmla="val 12000"/>
            </a:avLst>
          </a:prstGeom>
          <a:solidFill>
            <a:srgbClr val="F4CCC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234440"/>
            <a:ext cx="24688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4285F4"/>
                </a:solidFill>
                <a:latin typeface="DM Sans"/>
              </a:rPr>
              <a:t>Unity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91640"/>
            <a:ext cx="2514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Aft>
                <a:spcPts val="300"/>
              </a:spcAft>
              <a:buChar char="•"/>
            </a:pPr>
            <a:r>
              <a:rPr sz="1100">
                <a:solidFill>
                  <a:srgbClr val="000000"/>
                </a:solidFill>
                <a:latin typeface="DM Sans"/>
              </a:rPr>
              <a:t>Analysts see the gold table only; the app reads images read-only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100">
                <a:solidFill>
                  <a:srgbClr val="000000"/>
                </a:solidFill>
                <a:latin typeface="DM Sans"/>
              </a:rPr>
              <a:t>Lineage from raw image to the answer in Genie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100">
                <a:solidFill>
                  <a:srgbClr val="000000"/>
                </a:solidFill>
                <a:latin typeface="DM Sans"/>
              </a:rPr>
              <a:t>Genie runs with the user's own permissions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097280"/>
            <a:ext cx="2697480" cy="2514600"/>
          </a:xfrm>
          <a:prstGeom prst="roundRect">
            <a:avLst>
              <a:gd name="adj" fmla="val 12000"/>
            </a:avLst>
          </a:prstGeom>
          <a:solidFill>
            <a:srgbClr val="F4CCC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34440"/>
            <a:ext cx="24688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4285F4"/>
                </a:solidFill>
                <a:latin typeface="DM Sans"/>
              </a:rPr>
              <a:t>Unity AI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91640"/>
            <a:ext cx="2514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Aft>
                <a:spcPts val="300"/>
              </a:spcAft>
              <a:buChar char="•"/>
            </a:pPr>
            <a:r>
              <a:rPr sz="1100">
                <a:solidFill>
                  <a:srgbClr val="000000"/>
                </a:solidFill>
                <a:latin typeface="DM Sans"/>
              </a:rPr>
              <a:t>Every model call attributed: requester, tokens, latency, status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100">
                <a:solidFill>
                  <a:srgbClr val="000000"/>
                </a:solidFill>
                <a:latin typeface="DM Sans"/>
              </a:rPr>
              <a:t>Model access governed by UC EXECUTE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100">
                <a:solidFill>
                  <a:srgbClr val="000000"/>
                </a:solidFill>
                <a:latin typeface="DM Sans"/>
              </a:rPr>
              <a:t>Swap or fall back models without pipeline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DM Sans"/>
              </a:rPr>
              <a:t>Decisions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Foundation vision model via ai_query, not a custom CNN: no labelled data or training; confidence-based review covers the gaps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Model called inside the streaming table: each image read and billed once; reviewed readings never change on refresh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Lakebase for the review step: low-latency transactional writes; synced table stays read-only, decisions return via Lakehouse Sync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Snapshot sync for serving: gold is a materialized view; at ~120 images/day a snapshot takes seconds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“Unusually high” = above the gauge's operating limit (default 75% of full scale), so Genie never invents thresholds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200">
                <a:solidFill>
                  <a:srgbClr val="000000"/>
                </a:solidFill>
                <a:latin typeface="DM Sans"/>
              </a:rPr>
              <a:t>GPT-5.5 chosen after testing 15 vision models: best accuracy among batch-capable models, with a confidence score that separates right from wrong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DM Sans"/>
              </a:rPr>
              <a:t>Path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Aft>
                <a:spcPts val="300"/>
              </a:spcAft>
              <a:buChar char="•"/>
            </a:pPr>
            <a:r>
              <a:rPr sz="1300">
                <a:solidFill>
                  <a:srgbClr val="000000"/>
                </a:solidFill>
                <a:latin typeface="DM Sans"/>
              </a:rPr>
              <a:t>Connect the robot fleet platform's image export to the raw volume (file-arrival trigger already in place)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300">
                <a:solidFill>
                  <a:srgbClr val="000000"/>
                </a:solidFill>
                <a:latin typeface="DM Sans"/>
              </a:rPr>
              <a:t>Load real gauge tags and operating limits from the asset register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300">
                <a:solidFill>
                  <a:srgbClr val="000000"/>
                </a:solidFill>
                <a:latin typeface="DM Sans"/>
              </a:rPr>
              <a:t>Pilot one site for [TBD] weeks; target human correction rate below [TBD]%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300">
                <a:solidFill>
                  <a:srgbClr val="000000"/>
                </a:solidFill>
                <a:latin typeface="DM Sans"/>
              </a:rPr>
              <a:t>Alerting on excursions into the maintenance work-order system</a:t>
            </a:r>
          </a:p>
          <a:p>
            <a:pPr marL="228600" indent="-182880">
              <a:spcAft>
                <a:spcPts val="300"/>
              </a:spcAft>
              <a:buChar char="•"/>
            </a:pPr>
            <a:r>
              <a:rPr sz="1300">
                <a:solidFill>
                  <a:srgbClr val="000000"/>
                </a:solidFill>
                <a:latin typeface="DM Sans"/>
              </a:rPr>
              <a:t>Promote with Declarative Automation Bundles (dev → prod), named reviewer / analyst groups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