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 id="267" r:id="rId28"/>
    <p:sldId id="268" r:id="rId29"/>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outcome for the executive sponsor.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Numbers from the build run (evidence/04_readings_summary.md, 01_pipeline_run.md, 07_gateway.md). Still to model with the customer: hours of manual rounds removed per site x loaded cost, and vendor cost per image avoided.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the business stakeholder and the technical/domain stakeholder.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the live demo under 8 minutes. Have the PI-3102 correction ready as the human-in-the-loop moment.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Robot inspection rounds, read by AI, checked by people</a:t>
            </a:r>
          </a:p>
        </p:txBody>
      </p:sp>
      <p:sp>
        <p:nvSpPr>
          <p:cNvPr id="4" name="Subtitle 3"/>
          <p:cNvSpPr>
            <a:spLocks noGrp="1"/>
          </p:cNvSpPr>
          <p:nvPr>
            <p:ph type="subTitle" idx="2"/>
          </p:nvPr>
        </p:nvSpPr>
        <p:spPr/>
        <p:txBody>
          <a:bodyPr/>
          <a:lstStyle/>
          <a:p>
            <a:r>
              <a:t>Refinery and terminal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gauge read in minutes, not days</a:t>
            </a:r>
          </a:p>
        </p:txBody>
      </p:sp>
      <p:sp>
        <p:nvSpPr>
          <p:cNvPr id="3" name="Subtitle 2"/>
          <p:cNvSpPr>
            <a:spLocks noGrp="1"/>
          </p:cNvSpPr>
          <p:nvPr>
            <p:ph type="subTitle" idx="1"/>
          </p:nvPr>
        </p:nvSpPr>
        <p:spPr/>
        <p:txBody>
          <a:bodyPr/>
          <a:lstStyle/>
          <a:p>
            <a:r>
              <a:t>THE OUTCOME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Rounds produce thousands of photos a month</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a:t>
            </a:r>
          </a:p>
        </p:txBody>
      </p:sp>
      <p:sp>
        <p:nvSpPr>
          <p:cNvPr id="3" name="Text Placeholder 2"/>
          <p:cNvSpPr>
            <a:spLocks noGrp="1"/>
          </p:cNvSpPr>
          <p:nvPr>
            <p:ph type="body" idx="1"/>
          </p:nvPr>
        </p:nvSpPr>
        <p:spPr/>
        <p:txBody>
          <a:bodyPr/>
          <a:lstStyle/>
          <a:p>
            <a:r>
              <a:rPr sz="1500"/>
              <a:t>Legged robots and drones run routine rounds in hazardous areas</a:t>
            </a:r>
          </a:p>
          <a:p>
            <a:r>
              <a:rPr sz="1500"/>
              <a:t>Inspection robots already capture images at scale: 120,000+ inspections analysed a month by one vendor alone³</a:t>
            </a:r>
          </a:p>
        </p:txBody>
      </p:sp>
      <p:sp>
        <p:nvSpPr>
          <p:cNvPr id="4" name="Text Placeholder 3"/>
          <p:cNvSpPr>
            <a:spLocks noGrp="1"/>
          </p:cNvSpPr>
          <p:nvPr>
            <p:ph type="body" idx="2"/>
          </p:nvPr>
        </p:nvSpPr>
        <p:spPr/>
        <p:txBody>
          <a:bodyPr/>
          <a:lstStyle/>
          <a:p>
            <a:r>
              <a:rPr sz="1500"/>
              <a:t>Foundation vision models read a dial with no labelled data or training</a:t>
            </a:r>
          </a:p>
          <a:p>
            <a:r>
              <a:rPr sz="1500"/>
              <a:t>They also say how sure they are, so people only check the uncertain ones</a:t>
            </a:r>
          </a:p>
        </p:txBody>
      </p:sp>
      <p:sp>
        <p:nvSpPr>
          <p:cNvPr id="5" name="Text Placeholder 4"/>
          <p:cNvSpPr>
            <a:spLocks noGrp="1"/>
          </p:cNvSpPr>
          <p:nvPr>
            <p:ph type="body" idx="3"/>
          </p:nvPr>
        </p:nvSpPr>
        <p:spPr/>
        <p:txBody>
          <a:bodyPr/>
          <a:lstStyle/>
          <a:p>
            <a:r>
              <a:rPr sz="1500"/>
              <a:t>One governed platform from photo to answer: Lakeflow, Unity Catalog, Lakebase, Genie</a:t>
            </a:r>
          </a:p>
          <a:p>
            <a:r>
              <a:rPr sz="1500"/>
              <a:t>Every model call logged and costed: ~$0.04 per reading at list price</a:t>
            </a:r>
          </a:p>
        </p:txBody>
      </p:sp>
      <p:sp>
        <p:nvSpPr>
          <p:cNvPr id="6" name="Subtitle 5"/>
          <p:cNvSpPr>
            <a:spLocks noGrp="1"/>
          </p:cNvSpPr>
          <p:nvPr>
            <p:ph type="subTitle" idx="4"/>
          </p:nvPr>
        </p:nvSpPr>
        <p:spPr/>
        <p:txBody>
          <a:bodyPr/>
          <a:lstStyle/>
          <a:p>
            <a:r>
              <a:t>Robots are already on site</a:t>
            </a:r>
          </a:p>
        </p:txBody>
      </p:sp>
      <p:sp>
        <p:nvSpPr>
          <p:cNvPr id="7" name="Subtitle 6"/>
          <p:cNvSpPr>
            <a:spLocks noGrp="1"/>
          </p:cNvSpPr>
          <p:nvPr>
            <p:ph type="subTitle" idx="5"/>
          </p:nvPr>
        </p:nvSpPr>
        <p:spPr/>
        <p:txBody>
          <a:bodyPr/>
          <a:lstStyle/>
          <a:p>
            <a:r>
              <a:t>Vision models read dials</a:t>
            </a:r>
          </a:p>
        </p:txBody>
      </p:sp>
      <p:sp>
        <p:nvSpPr>
          <p:cNvPr id="8" name="Subtitle 7"/>
          <p:cNvSpPr>
            <a:spLocks noGrp="1"/>
          </p:cNvSpPr>
          <p:nvPr>
            <p:ph type="subTitle" idx="6"/>
          </p:nvPr>
        </p:nvSpPr>
        <p:spPr/>
        <p:txBody>
          <a:bodyPr/>
          <a:lstStyle/>
          <a:p>
            <a:r>
              <a:t>Governed, at a known cost</a:t>
            </a:r>
          </a:p>
        </p:txBody>
      </p:sp>
      <p:sp>
        <p:nvSpPr>
          <p:cNvPr id="9" name="Text Placeholder 8"/>
          <p:cNvSpPr>
            <a:spLocks noGrp="1"/>
          </p:cNvSpPr>
          <p:nvPr>
            <p:ph type="body" idx="7"/>
          </p:nvPr>
        </p:nvSpPr>
        <p:spPr/>
        <p:txBody>
          <a:bodyPr/>
          <a:lstStyle/>
          <a:p>
            <a:r>
              <a:t>The three pieces that were missing are now in place</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³ ANYbotics, anybotics.com (vendor-reported figure).   Cost per reading: build run, GPT-5.5 via Unity AI Gateway (evidence/07_gateway.md).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changes for operations</a:t>
            </a:r>
          </a:p>
        </p:txBody>
      </p:sp>
      <p:sp>
        <p:nvSpPr>
          <p:cNvPr id="3" name="Text Placeholder 2"/>
          <p:cNvSpPr>
            <a:spLocks noGrp="1"/>
          </p:cNvSpPr>
          <p:nvPr>
            <p:ph type="body" idx="1"/>
          </p:nvPr>
        </p:nvSpPr>
        <p:spPr/>
        <p:txBody>
          <a:bodyPr/>
          <a:lstStyle/>
          <a:p>
            <a:r>
              <a:t>20 of 30 readings read and accepted by AI</a:t>
            </a:r>
          </a:p>
          <a:p>
            <a:r>
              <a:t>Reviewers check 10, not 30 — no manual transcription</a:t>
            </a:r>
          </a:p>
        </p:txBody>
      </p:sp>
      <p:sp>
        <p:nvSpPr>
          <p:cNvPr id="4" name="Text Placeholder 3"/>
          <p:cNvSpPr>
            <a:spLocks noGrp="1"/>
          </p:cNvSpPr>
          <p:nvPr>
            <p:ph type="body" idx="2"/>
          </p:nvPr>
        </p:nvSpPr>
        <p:spPr/>
        <p:txBody>
          <a:bodyPr/>
          <a:lstStyle/>
          <a:p>
            <a:r>
              <a:t>One pipeline run read the whole round, each photo once</a:t>
            </a:r>
          </a:p>
          <a:p>
            <a:r>
              <a:t>Excursions surfaced the same shift</a:t>
            </a:r>
          </a:p>
        </p:txBody>
      </p:sp>
      <p:sp>
        <p:nvSpPr>
          <p:cNvPr id="5" name="Text Placeholder 4"/>
          <p:cNvSpPr>
            <a:spLocks noGrp="1"/>
          </p:cNvSpPr>
          <p:nvPr>
            <p:ph type="body" idx="3"/>
          </p:nvPr>
        </p:nvSpPr>
        <p:spPr/>
        <p:txBody>
          <a:bodyPr/>
          <a:lstStyle/>
          <a:p>
            <a:r>
              <a:t>AI cost at list price, every call attributed</a:t>
            </a:r>
          </a:p>
          <a:p>
            <a:r>
              <a:t>100% of uncertain or unexpectedly high readings checked by a person</a:t>
            </a:r>
          </a:p>
        </p:txBody>
      </p:sp>
      <p:sp>
        <p:nvSpPr>
          <p:cNvPr id="6" name="Subtitle 5"/>
          <p:cNvSpPr>
            <a:spLocks noGrp="1"/>
          </p:cNvSpPr>
          <p:nvPr>
            <p:ph type="subTitle" idx="4"/>
          </p:nvPr>
        </p:nvSpPr>
        <p:spPr/>
        <p:txBody>
          <a:bodyPr/>
          <a:lstStyle/>
          <a:p>
            <a:r>
              <a:t>67% need no one</a:t>
            </a:r>
          </a:p>
        </p:txBody>
      </p:sp>
      <p:sp>
        <p:nvSpPr>
          <p:cNvPr id="7" name="Subtitle 6"/>
          <p:cNvSpPr>
            <a:spLocks noGrp="1"/>
          </p:cNvSpPr>
          <p:nvPr>
            <p:ph type="subTitle" idx="5"/>
          </p:nvPr>
        </p:nvSpPr>
        <p:spPr/>
        <p:txBody>
          <a:bodyPr/>
          <a:lstStyle/>
          <a:p>
            <a:r>
              <a:t>&lt; 3 minutes</a:t>
            </a:r>
          </a:p>
        </p:txBody>
      </p:sp>
      <p:sp>
        <p:nvSpPr>
          <p:cNvPr id="8" name="Subtitle 7"/>
          <p:cNvSpPr>
            <a:spLocks noGrp="1"/>
          </p:cNvSpPr>
          <p:nvPr>
            <p:ph type="subTitle" idx="6"/>
          </p:nvPr>
        </p:nvSpPr>
        <p:spPr/>
        <p:txBody>
          <a:bodyPr/>
          <a:lstStyle/>
          <a:p>
            <a:r>
              <a:t>~$0.04 per reading</a:t>
            </a:r>
          </a:p>
        </p:txBody>
      </p:sp>
      <p:sp>
        <p:nvSpPr>
          <p:cNvPr id="9" name="Text Placeholder 8"/>
          <p:cNvSpPr>
            <a:spLocks noGrp="1"/>
          </p:cNvSpPr>
          <p:nvPr>
            <p:ph type="body" idx="7"/>
          </p:nvPr>
        </p:nvSpPr>
        <p:spPr/>
        <p:txBody>
          <a:bodyPr/>
          <a:lstStyle/>
          <a:p>
            <a:r>
              <a:t>Measured on the build round: 30 gauges, 2 sites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600"/>
              <a:t>Fewer people in hazardous areas for routine rounds: [TBD] exposure hours avoided per year</a:t>
            </a:r>
          </a:p>
          <a:p>
            <a:r>
              <a:rPr sz="1600"/>
              <a:t>Vendor dependency removed: ~$0.04 per reading on the platform vs. [TBD] per image today</a:t>
            </a:r>
          </a:p>
          <a:p>
            <a:r>
              <a:rPr sz="1600"/>
              <a:t>Unexpectedly high pressures surfaced the same shift, not at the next manual round</a:t>
            </a:r>
          </a:p>
        </p:txBody>
      </p:sp>
      <p:sp>
        <p:nvSpPr>
          <p:cNvPr id="4" name="Text Placeholder 3"/>
          <p:cNvSpPr>
            <a:spLocks noGrp="1"/>
          </p:cNvSpPr>
          <p:nvPr>
            <p:ph type="body" idx="2"/>
          </p:nvPr>
        </p:nvSpPr>
        <p:spPr/>
        <p:txBody>
          <a:bodyPr/>
          <a:lstStyle/>
          <a:p>
            <a:r>
              <a:rPr sz="1600"/>
              <a:t>One review queue, sorted by risk: low confidence, unreadable, unexpectedly high</a:t>
            </a:r>
          </a:p>
          <a:p>
            <a:r>
              <a:rPr sz="1600"/>
              <a:t>Every correction audited (who, when, why) and fed back to the lakehouse</a:t>
            </a:r>
          </a:p>
          <a:p>
            <a:r>
              <a:rPr sz="1600"/>
              <a:t>Ask in plain English: “Are any pressure readings unexpectedly high?”</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Built for the executive sponsor and the domain owner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vision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431536"/>
            <a:ext cx="10479024" cy="438912"/>
          </a:xfrm>
          <a:prstGeom prst="rect">
            <a:avLst/>
          </a:prstGeom>
          <a:noFill/>
        </p:spPr>
        <p:txBody>
          <a:bodyPr wrap="square" anchor="ctr" lIns="45720" rIns="45720">
            <a:spAutoFit/>
          </a:bodyPr>
          <a:lstStyle/>
          <a:p>
            <a:pPr algn="ctr"/>
            <a:r>
              <a:rPr sz="840" b="0" i="0">
                <a:solidFill>
                  <a:srgbClr val="5F6B70"/>
                </a:solidFill>
                <a:latin typeface="DM Sans"/>
              </a:rPr>
              <a:t>Each image is read once inside the streaming table · gold applies each gauge's operating limit · reviewer decisions flow back to Delta through Lakehouse Sync · Genie runs with the signed-in user's permissions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one inspection round</a:t>
            </a:r>
          </a:p>
        </p:txBody>
      </p:sp>
      <p:sp>
        <p:nvSpPr>
          <p:cNvPr id="4" name="Text Placeholder 3"/>
          <p:cNvSpPr>
            <a:spLocks noGrp="1"/>
          </p:cNvSpPr>
          <p:nvPr>
            <p:ph type="body" idx="2"/>
          </p:nvPr>
        </p:nvSpPr>
        <p:spPr/>
        <p:txBody>
          <a:bodyPr/>
          <a:lstStyle/>
          <a:p>
            <a:r>
              <a:t>Tell the problem · show the app and Genie · tell the value</a:t>
            </a:r>
          </a:p>
        </p:txBody>
      </p:sp>
      <p:sp>
        <p:nvSpPr>
          <p:cNvPr id="5" name="Rounded Rectangle 4"/>
          <p:cNvSpPr/>
          <p:nvPr/>
        </p:nvSpPr>
        <p:spPr>
          <a:xfrm>
            <a:off x="777240"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1  Land</a:t>
            </a:r>
          </a:p>
          <a:p>
            <a:pPr algn="ctr"/>
            <a:r>
              <a:rPr sz="1287" b="0">
                <a:solidFill>
                  <a:srgbClr val="1B3037"/>
                </a:solidFill>
                <a:latin typeface="DM Sans"/>
              </a:rPr>
              <a:t>30 gauge photos and the round's metadata arrive in the raw volume</a:t>
            </a:r>
          </a:p>
        </p:txBody>
      </p:sp>
      <p:cxnSp>
        <p:nvCxnSpPr>
          <p:cNvPr id="6" name="Connector 5"/>
          <p:cNvCxnSpPr/>
          <p:nvPr/>
        </p:nvCxnSpPr>
        <p:spPr>
          <a:xfrm>
            <a:off x="2360615"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42489"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2  Read</a:t>
            </a:r>
          </a:p>
          <a:p>
            <a:pPr algn="ctr"/>
            <a:r>
              <a:rPr sz="1287" b="0">
                <a:solidFill>
                  <a:srgbClr val="1B3037"/>
                </a:solidFill>
                <a:latin typeface="DM Sans"/>
              </a:rPr>
              <a:t>The pipeline reads every dial once: value, unit, confidence, image issues</a:t>
            </a:r>
          </a:p>
        </p:txBody>
      </p:sp>
      <p:cxnSp>
        <p:nvCxnSpPr>
          <p:cNvPr id="8" name="Connector 7"/>
          <p:cNvCxnSpPr/>
          <p:nvPr/>
        </p:nvCxnSpPr>
        <p:spPr>
          <a:xfrm>
            <a:off x="4125864"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7738"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3  Triage</a:t>
            </a:r>
          </a:p>
          <a:p>
            <a:pPr algn="ctr"/>
            <a:r>
              <a:rPr sz="1287" b="0">
                <a:solidFill>
                  <a:srgbClr val="1B3037"/>
                </a:solidFill>
                <a:latin typeface="DM Sans"/>
              </a:rPr>
              <a:t>67% need no one; the queue shows the readings that need a person</a:t>
            </a:r>
          </a:p>
        </p:txBody>
      </p:sp>
      <p:cxnSp>
        <p:nvCxnSpPr>
          <p:cNvPr id="10" name="Connector 9"/>
          <p:cNvCxnSpPr/>
          <p:nvPr/>
        </p:nvCxnSpPr>
        <p:spPr>
          <a:xfrm>
            <a:off x="5891113"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72987"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4  Correct</a:t>
            </a:r>
          </a:p>
          <a:p>
            <a:pPr algn="ctr"/>
            <a:r>
              <a:rPr sz="1287" b="0">
                <a:solidFill>
                  <a:srgbClr val="1B3037"/>
                </a:solidFill>
                <a:latin typeface="DM Sans"/>
              </a:rPr>
              <a:t>A reviewer fixes a misread needle (5.0 → 1.0 bar) with a reason</a:t>
            </a:r>
          </a:p>
        </p:txBody>
      </p:sp>
      <p:cxnSp>
        <p:nvCxnSpPr>
          <p:cNvPr id="12" name="Connector 11"/>
          <p:cNvCxnSpPr/>
          <p:nvPr/>
        </p:nvCxnSpPr>
        <p:spPr>
          <a:xfrm>
            <a:off x="7656362"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38236"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5  Ask</a:t>
            </a:r>
          </a:p>
          <a:p>
            <a:pPr algn="ctr"/>
            <a:r>
              <a:rPr sz="1287" b="0">
                <a:solidFill>
                  <a:srgbClr val="1B3037"/>
                </a:solidFill>
                <a:latin typeface="DM Sans"/>
              </a:rPr>
              <a:t>“Which locations have the most low-confidence readings?” — Genie answers with SQL</a:t>
            </a:r>
          </a:p>
        </p:txBody>
      </p:sp>
      <p:cxnSp>
        <p:nvCxnSpPr>
          <p:cNvPr id="14" name="Connector 13"/>
          <p:cNvCxnSpPr/>
          <p:nvPr/>
        </p:nvCxnSpPr>
        <p:spPr>
          <a:xfrm>
            <a:off x="9421611" y="3059125"/>
            <a:ext cx="181875"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603486"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6  Trust</a:t>
            </a:r>
          </a:p>
          <a:p>
            <a:pPr algn="ctr"/>
            <a:r>
              <a:rPr sz="1287" b="0">
                <a:solidFill>
                  <a:srgbClr val="1B3037"/>
                </a:solidFill>
                <a:latin typeface="DM Sans"/>
              </a:rPr>
              <a:t>AI model &amp; usage: cost per reading, confidence vs threshold, correction rate</a:t>
            </a:r>
          </a:p>
        </p:txBody>
      </p:sp>
      <p:sp>
        <p:nvSpPr>
          <p:cNvPr id="16" name="TextBox 15"/>
          <p:cNvSpPr txBox="1"/>
          <p:nvPr/>
        </p:nvSpPr>
        <p:spPr>
          <a:xfrm>
            <a:off x="777240" y="4449927"/>
            <a:ext cx="10377525" cy="427939"/>
          </a:xfrm>
          <a:prstGeom prst="rect">
            <a:avLst/>
          </a:prstGeom>
          <a:noFill/>
        </p:spPr>
        <p:txBody>
          <a:bodyPr wrap="square" anchor="ctr" lIns="45720" rIns="45720">
            <a:spAutoFit/>
          </a:bodyPr>
          <a:lstStyle/>
          <a:p>
            <a:pPr algn="l"/>
            <a:r>
              <a:rPr sz="1053" b="0" i="0">
                <a:solidFill>
                  <a:srgbClr val="5F6B70"/>
                </a:solidFill>
                <a:latin typeface="DM Sans"/>
              </a:rPr>
              <a:t>Everything shown runs on synthetic metadata and publicly licensed gauge photos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Governed AI with a human in the loop</a:t>
            </a:r>
          </a:p>
        </p:txBody>
      </p:sp>
      <p:sp>
        <p:nvSpPr>
          <p:cNvPr id="3" name="Text Placeholder 2"/>
          <p:cNvSpPr>
            <a:spLocks noGrp="1"/>
          </p:cNvSpPr>
          <p:nvPr>
            <p:ph type="body" idx="1"/>
          </p:nvPr>
        </p:nvSpPr>
        <p:spPr/>
        <p:txBody>
          <a:bodyPr/>
          <a:lstStyle/>
          <a:p>
            <a:r>
              <a:t>Confidence below 70%, unreadable dials and unexpectedly high readings always go to a reviewer</a:t>
            </a:r>
          </a:p>
          <a:p>
            <a:r>
              <a:t>Decisions are appended, never overwritten</a:t>
            </a:r>
          </a:p>
          <a:p>
            <a:r>
              <a:t>Human correction rate tracked as live accuracy</a:t>
            </a:r>
          </a:p>
        </p:txBody>
      </p:sp>
      <p:sp>
        <p:nvSpPr>
          <p:cNvPr id="4" name="Text Placeholder 3"/>
          <p:cNvSpPr>
            <a:spLocks noGrp="1"/>
          </p:cNvSpPr>
          <p:nvPr>
            <p:ph type="body" idx="2"/>
          </p:nvPr>
        </p:nvSpPr>
        <p:spPr/>
        <p:txBody>
          <a:bodyPr/>
          <a:lstStyle/>
          <a:p>
            <a:r>
              <a:t>Analysts see the gold table only; the app reads images read-only</a:t>
            </a:r>
          </a:p>
          <a:p>
            <a:r>
              <a:t>Lineage from raw image to the answer in Genie</a:t>
            </a:r>
          </a:p>
          <a:p>
            <a:r>
              <a:t>Genie runs with the user's own permissions</a:t>
            </a:r>
          </a:p>
        </p:txBody>
      </p:sp>
      <p:sp>
        <p:nvSpPr>
          <p:cNvPr id="5" name="Text Placeholder 4"/>
          <p:cNvSpPr>
            <a:spLocks noGrp="1"/>
          </p:cNvSpPr>
          <p:nvPr>
            <p:ph type="body" idx="3"/>
          </p:nvPr>
        </p:nvSpPr>
        <p:spPr/>
        <p:txBody>
          <a:bodyPr/>
          <a:lstStyle/>
          <a:p>
            <a:r>
              <a:t>Every model call attributed: requester, tokens, status</a:t>
            </a:r>
          </a:p>
          <a:p>
            <a:r>
              <a:t>Cost per reading shown in the app (~$0.04 at list price)</a:t>
            </a:r>
          </a:p>
          <a:p>
            <a:r>
              <a:t>Model access governed by UC EXECUTE; swap models without pipeline changes</a:t>
            </a:r>
          </a:p>
        </p:txBody>
      </p:sp>
      <p:sp>
        <p:nvSpPr>
          <p:cNvPr id="6" name="Subtitle 5"/>
          <p:cNvSpPr>
            <a:spLocks noGrp="1"/>
          </p:cNvSpPr>
          <p:nvPr>
            <p:ph type="subTitle" idx="4"/>
          </p:nvPr>
        </p:nvSpPr>
        <p:spPr/>
        <p:txBody>
          <a:bodyPr/>
          <a:lstStyle/>
          <a:p>
            <a:r>
              <a:t>Human in the loop</a:t>
            </a:r>
          </a:p>
        </p:txBody>
      </p:sp>
      <p:sp>
        <p:nvSpPr>
          <p:cNvPr id="7" name="Subtitle 6"/>
          <p:cNvSpPr>
            <a:spLocks noGrp="1"/>
          </p:cNvSpPr>
          <p:nvPr>
            <p:ph type="subTitle" idx="5"/>
          </p:nvPr>
        </p:nvSpPr>
        <p:spPr/>
        <p:txBody>
          <a:bodyPr/>
          <a:lstStyle/>
          <a:p>
            <a:r>
              <a:t>Unity Catalog</a:t>
            </a:r>
          </a:p>
        </p:txBody>
      </p:sp>
      <p:sp>
        <p:nvSpPr>
          <p:cNvPr id="8" name="Subtitle 7"/>
          <p:cNvSpPr>
            <a:spLocks noGrp="1"/>
          </p:cNvSpPr>
          <p:nvPr>
            <p:ph type="subTitle" idx="6"/>
          </p:nvPr>
        </p:nvSpPr>
        <p:spPr/>
        <p:txBody>
          <a:bodyPr/>
          <a:lstStyle/>
          <a:p>
            <a:r>
              <a:t>Unity AI Gateway</a:t>
            </a:r>
          </a:p>
        </p:txBody>
      </p:sp>
      <p:sp>
        <p:nvSpPr>
          <p:cNvPr id="9" name="Text Placeholder 8"/>
          <p:cNvSpPr>
            <a:spLocks noGrp="1"/>
          </p:cNvSpPr>
          <p:nvPr>
            <p:ph type="body" idx="7"/>
          </p:nvPr>
        </p:nvSpPr>
        <p:spPr/>
        <p:txBody>
          <a:bodyPr/>
          <a:lstStyle/>
          <a:p>
            <a:r>
              <a:t>AI reads, people decide where it matters, the platform keeps the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 to production</a:t>
            </a:r>
          </a:p>
        </p:txBody>
      </p:sp>
      <p:sp>
        <p:nvSpPr>
          <p:cNvPr id="3" name="Text Placeholder 2"/>
          <p:cNvSpPr>
            <a:spLocks noGrp="1"/>
          </p:cNvSpPr>
          <p:nvPr>
            <p:ph type="body" idx="1"/>
          </p:nvPr>
        </p:nvSpPr>
        <p:spPr/>
        <p:txBody>
          <a:bodyPr/>
          <a:lstStyle/>
          <a:p>
            <a:r>
              <a:rPr sz="1600"/>
              <a:t>Connect the robot fleet's image export to the raw volume (file-arrival trigger in place)</a:t>
            </a:r>
          </a:p>
          <a:p>
            <a:r>
              <a:rPr sz="1600"/>
              <a:t>Load real gauge tags and operating limits from the asset register</a:t>
            </a:r>
          </a:p>
          <a:p>
            <a:r>
              <a:rPr sz="1600"/>
              <a:t>Alert on unexpectedly high readings into the maintenance work-order system</a:t>
            </a:r>
          </a:p>
          <a:p>
            <a:r>
              <a:rPr sz="1600"/>
              <a:t>Extend the same pipeline to condition findings (rust, leaks) and per-gauge trends across rounds</a:t>
            </a:r>
          </a:p>
          <a:p>
            <a:r>
              <a:rPr sz="1600"/>
              <a:t>Promote with Declarative Automation Bundles (dev → prod) and named reviewer / analyst groups</a:t>
            </a:r>
          </a:p>
        </p:txBody>
      </p:sp>
      <p:sp>
        <p:nvSpPr>
          <p:cNvPr id="4" name="Text Placeholder 3"/>
          <p:cNvSpPr>
            <a:spLocks noGrp="1"/>
          </p:cNvSpPr>
          <p:nvPr>
            <p:ph type="body" idx="2"/>
          </p:nvPr>
        </p:nvSpPr>
        <p:spPr/>
        <p:txBody>
          <a:bodyPr/>
          <a:lstStyle/>
          <a:p>
            <a:r>
              <a:rPr sz="1600"/>
              <a:t>Pilot success criteria</a:t>
            </a:r>
          </a:p>
          <a:p>
            <a:r>
              <a:rPr sz="1600"/>
              <a:t>One site, [TBD] weeks</a:t>
            </a:r>
          </a:p>
          <a:p>
            <a:r>
              <a:rPr sz="1600"/>
              <a:t>Human correction rate below [TBD]%</a:t>
            </a:r>
          </a:p>
          <a:p>
            <a:r>
              <a:rPr sz="1600"/>
              <a:t>[TBD] hours of manual rounds removed</a:t>
            </a:r>
          </a:p>
          <a:p>
            <a:r>
              <a:rPr sz="1600"/>
              <a:t>Every reading traceable from photo to answer</a:t>
            </a:r>
          </a:p>
        </p:txBody>
      </p:sp>
      <p:sp>
        <p:nvSpPr>
          <p:cNvPr id="5" name="Text Placeholder 4"/>
          <p:cNvSpPr>
            <a:spLocks noGrp="1"/>
          </p:cNvSpPr>
          <p:nvPr>
            <p:ph type="body" idx="3"/>
          </p:nvPr>
        </p:nvSpPr>
        <p:spPr/>
        <p:txBody>
          <a:bodyPr/>
          <a:lstStyle/>
          <a:p>
            <a:r>
              <a:t>From one demo round to a site pilot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gauge read, every decision governed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