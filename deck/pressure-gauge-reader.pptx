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value for the executive sponsor. This is a value model, not a test result: replace the assumptions with Northbay's gauge count, rounds per day, minutes per reading and current vendor fee. Hours: 500 gauges x 2 rounds x 365 days = 365,000 readings; at 1 minute each = ~6,100 hours; reviewing 1 in 5 = ~1,200 hours; ~4,900 hours saved (~2.9 FTE at 1,700 hours). AI cost: 365,000 x $0.042 = ~$15k. Vendor: 365,000 x $0.50 = ~$180k. Downtime: $253M / 326 hours = ~$776k an hour, ~50x the annual AI cost. Gauge readings are the first use case; the same photos also give leak, corrosion and damage findings at no extra capture cost.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Tie each lever to the scorecard metric: for the VP Operations / HSE, TRIR and process-safety events (exposure hours), plant availability (downtime avoided) and opex (vendor fees); for the reliability lead, unplanned downtime hours, MTBF and maintenance backlog / PM compliance.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value proposition: one governed platform turns inspection photos into data. Gauges are the worked example in this build. Condition findings (leaks, rust, damage) reuse the same pipeline with a new prompt and output schema. The reviewer loop produces labelled data, so fine-tuning a specialist model is an option once volumes justify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Bespoke gauge-reading pipelines chain several models: detect the gauge, segment the needle, find the scale notches, fit an ellipse, OCR the scale markings (ETH Zurich, ICRA 2024). Each new dial type or defect adds work. A foundation model reads the dial in one call, and the platform adds the review loop, governance and cost control. DEMO NEXT (8-18 min, then return to slide 8 or straight to slide 9): 1 Review queue: the outcome panel and the Needs review tab (people only check these). 2 Correct PI-3102: zoom into the photo, override 5.0 -&gt; 1.0 bar with a reason (human in the loop). 3 Ask Genie: 'Which locations have the most low-confidence readings?' and expand the SQL. 4 AI model &amp; usage: cost per reading and the confidence spread against the 70% review line (governed AI). 5 How it works: click through the steps and end on the sync-back loop ('your correction just flowed back 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 Governed AI: low-confidence, unreadable and unexpectedly high readings always go to a reviewer; decisions are appended, never overwritten; the human correction rate is the live accuracy check. Analysts see the gold table only, Genie runs with the user's own permissions, and every model call is attributed in Unity AI Gateway. After the demo, use this slide as a quick recap (or skip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2 needs no new infrastructure: add condition fields to the model's output schema and a findings view in gold. Phase 3 uses the reviewer corrections from phases 1 and 2 as training and evaluation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AI visual inspection for robot rounds</a:t>
            </a:r>
          </a:p>
        </p:txBody>
      </p:sp>
      <p:sp>
        <p:nvSpPr>
          <p:cNvPr id="4" name="Subtitle 3"/>
          <p:cNvSpPr>
            <a:spLocks noGrp="1"/>
          </p:cNvSpPr>
          <p:nvPr>
            <p:ph type="subTitle" idx="2"/>
          </p:nvPr>
        </p:nvSpPr>
        <p:spPr/>
        <p:txBody>
          <a:bodyPr/>
          <a:lstStyle/>
          <a:p>
            <a:r>
              <a:t>Starting with every pressure gauge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value comes from</a:t>
            </a:r>
          </a:p>
        </p:txBody>
      </p:sp>
      <p:sp>
        <p:nvSpPr>
          <p:cNvPr id="3" name="Text Placeholder 2"/>
          <p:cNvSpPr>
            <a:spLocks noGrp="1"/>
          </p:cNvSpPr>
          <p:nvPr>
            <p:ph type="body" idx="1"/>
          </p:nvPr>
        </p:nvSpPr>
        <p:spPr/>
        <p:txBody>
          <a:bodyPr/>
          <a:lstStyle/>
          <a:p>
            <a:r>
              <a:rPr sz="1500"/>
              <a:t>365,000 readings a year, each transcribed or re-checked by hand: ~6,100 hours at 1 minute each¹</a:t>
            </a:r>
          </a:p>
          <a:p>
            <a:r>
              <a:rPr sz="1500"/>
              <a:t>With AI, people check only the uncertain ones (target: 1 in 5)</a:t>
            </a:r>
          </a:p>
          <a:p>
            <a:r>
              <a:rPr sz="1500"/>
              <a:t>About 3 people's time, freed for maintenance</a:t>
            </a:r>
          </a:p>
        </p:txBody>
      </p:sp>
      <p:sp>
        <p:nvSpPr>
          <p:cNvPr id="4" name="Text Placeholder 3"/>
          <p:cNvSpPr>
            <a:spLocks noGrp="1"/>
          </p:cNvSpPr>
          <p:nvPr>
            <p:ph type="body" idx="2"/>
          </p:nvPr>
        </p:nvSpPr>
        <p:spPr/>
        <p:txBody>
          <a:bodyPr/>
          <a:lstStyle/>
          <a:p>
            <a:r>
              <a:rPr sz="1500"/>
              <a:t>365,000 photos × ~$0.04 per photo at list price²</a:t>
            </a:r>
          </a:p>
          <a:p>
            <a:r>
              <a:rPr sz="1500"/>
              <a:t>vs. ~$180k a year at a $0.50 per-image vendor fee¹</a:t>
            </a:r>
          </a:p>
          <a:p>
            <a:r>
              <a:rPr sz="1500"/>
              <a:t>No model to train, host or maintain</a:t>
            </a:r>
          </a:p>
        </p:txBody>
      </p:sp>
      <p:sp>
        <p:nvSpPr>
          <p:cNvPr id="5" name="Text Placeholder 4"/>
          <p:cNvSpPr>
            <a:spLocks noGrp="1"/>
          </p:cNvSpPr>
          <p:nvPr>
            <p:ph type="body" idx="3"/>
          </p:nvPr>
        </p:nvSpPr>
        <p:spPr/>
        <p:txBody>
          <a:bodyPr/>
          <a:lstStyle/>
          <a:p>
            <a:r>
              <a:rPr sz="1500"/>
              <a:t>Excursions flagged the same shift, not at the next manual round</a:t>
            </a:r>
          </a:p>
          <a:p>
            <a:r>
              <a:rPr sz="1500"/>
              <a:t>Unplanned downtime costs a large plant ~$0.8M an hour³</a:t>
            </a:r>
          </a:p>
          <a:p>
            <a:r>
              <a:rPr sz="1500"/>
              <a:t>Avoiding a single hour is worth ~50× the annual AI cost</a:t>
            </a:r>
          </a:p>
        </p:txBody>
      </p:sp>
      <p:sp>
        <p:nvSpPr>
          <p:cNvPr id="6" name="Subtitle 5"/>
          <p:cNvSpPr>
            <a:spLocks noGrp="1"/>
          </p:cNvSpPr>
          <p:nvPr>
            <p:ph type="subTitle" idx="4"/>
          </p:nvPr>
        </p:nvSpPr>
        <p:spPr/>
        <p:txBody>
          <a:bodyPr/>
          <a:lstStyle/>
          <a:p>
            <a:r>
              <a:t>~4,900 hours a year</a:t>
            </a:r>
          </a:p>
        </p:txBody>
      </p:sp>
      <p:sp>
        <p:nvSpPr>
          <p:cNvPr id="7" name="Subtitle 6"/>
          <p:cNvSpPr>
            <a:spLocks noGrp="1"/>
          </p:cNvSpPr>
          <p:nvPr>
            <p:ph type="subTitle" idx="5"/>
          </p:nvPr>
        </p:nvSpPr>
        <p:spPr/>
        <p:txBody>
          <a:bodyPr/>
          <a:lstStyle/>
          <a:p>
            <a:r>
              <a:t>~$15k a year AI cost</a:t>
            </a:r>
          </a:p>
        </p:txBody>
      </p:sp>
      <p:sp>
        <p:nvSpPr>
          <p:cNvPr id="8" name="Subtitle 7"/>
          <p:cNvSpPr>
            <a:spLocks noGrp="1"/>
          </p:cNvSpPr>
          <p:nvPr>
            <p:ph type="subTitle" idx="6"/>
          </p:nvPr>
        </p:nvSpPr>
        <p:spPr/>
        <p:txBody>
          <a:bodyPr/>
          <a:lstStyle/>
          <a:p>
            <a:r>
              <a:t>Earlier warnings</a:t>
            </a:r>
          </a:p>
        </p:txBody>
      </p:sp>
      <p:sp>
        <p:nvSpPr>
          <p:cNvPr id="9" name="Text Placeholder 8"/>
          <p:cNvSpPr>
            <a:spLocks noGrp="1"/>
          </p:cNvSpPr>
          <p:nvPr>
            <p:ph type="body" idx="7"/>
          </p:nvPr>
        </p:nvSpPr>
        <p:spPr/>
        <p:txBody>
          <a:bodyPr/>
          <a:lstStyle/>
          <a:p>
            <a:r>
              <a:t>Illustrative site: 500 gauges, photographed twice a day</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Assumptions to replace with Northbay's numbers: 1 min per reading, $0.50 per image vendor fee.   ² Measured tokens per photo × GPT-5.5 list price.   ³ Siemens, The True Cost of Downtime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500" b="1">
                <a:solidFill>
                  <a:srgbClr val="FF3621"/>
                </a:solidFill>
              </a:rPr>
              <a:t>Measured on: recordable injury rate (TRIR), process-safety events, plant availability, operating cost</a:t>
            </a:r>
          </a:p>
          <a:p>
            <a:r>
              <a:rPr sz="1500"/>
              <a:t>Safety: ~2,200 operator hours a year kept out of process areas as robot rounds produce trusted readings</a:t>
            </a:r>
          </a:p>
          <a:p>
            <a:r>
              <a:rPr sz="1500"/>
              <a:t>Availability: same-shift excursion warnings; one avoided hour of unplanned downtime ≈ $0.8M</a:t>
            </a:r>
          </a:p>
          <a:p>
            <a:r>
              <a:rPr sz="1500"/>
              <a:t>Operating cost: ~$15k a year on the platform vs. ~$180k in per-image vendor fees</a:t>
            </a:r>
          </a:p>
        </p:txBody>
      </p:sp>
      <p:sp>
        <p:nvSpPr>
          <p:cNvPr id="4" name="Text Placeholder 3"/>
          <p:cNvSpPr>
            <a:spLocks noGrp="1"/>
          </p:cNvSpPr>
          <p:nvPr>
            <p:ph type="body" idx="2"/>
          </p:nvPr>
        </p:nvSpPr>
        <p:spPr/>
        <p:txBody>
          <a:bodyPr/>
          <a:lstStyle/>
          <a:p>
            <a:r>
              <a:rPr sz="1500" b="1">
                <a:solidFill>
                  <a:srgbClr val="FF3621"/>
                </a:solidFill>
              </a:rPr>
              <a:t>Measured on: unplanned downtime hours, mean time between failures (MTBF), maintenance backlog</a:t>
            </a:r>
          </a:p>
          <a:p>
            <a:r>
              <a:rPr sz="1500"/>
              <a:t>Downtime and MTBF: excursions caught between rounds, with per-gauge trends to spot degradation early</a:t>
            </a:r>
          </a:p>
          <a:p>
            <a:r>
              <a:rPr sz="1500"/>
              <a:t>Backlog: one review queue sorted by risk; unexpectedly high readings become work orders</a:t>
            </a:r>
          </a:p>
          <a:p>
            <a:r>
              <a:rPr sz="1500"/>
              <a:t>Audit: every correction recorded (who, when, why) and answerable in Genie</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Each lever mapped to the numbers each leader is measured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Robots already capture photos at scale: 120,000+ inspections a month for one vendor alone³</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   ³ ANYbotics, anybotics.com (vendor-reported).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platform for visual inspection</a:t>
            </a:r>
          </a:p>
        </p:txBody>
      </p:sp>
      <p:sp>
        <p:nvSpPr>
          <p:cNvPr id="4" name="Text Placeholder 3"/>
          <p:cNvSpPr>
            <a:spLocks noGrp="1"/>
          </p:cNvSpPr>
          <p:nvPr>
            <p:ph type="body" idx="2"/>
          </p:nvPr>
        </p:nvSpPr>
        <p:spPr/>
        <p:txBody>
          <a:bodyPr/>
          <a:lstStyle/>
          <a:p>
            <a:r>
              <a:t>Gauge readings are the first use case — not the last</a:t>
            </a:r>
          </a:p>
        </p:txBody>
      </p:sp>
      <p:sp>
        <p:nvSpPr>
          <p:cNvPr id="5" name="Rectangle 4"/>
          <p:cNvSpPr/>
          <p:nvPr/>
        </p:nvSpPr>
        <p:spPr>
          <a:xfrm>
            <a:off x="75895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895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Beyond gauges</a:t>
            </a:r>
          </a:p>
          <a:p>
            <a:pPr>
              <a:spcAft>
                <a:spcPts val="600"/>
              </a:spcAft>
            </a:pPr>
            <a:r>
              <a:rPr sz="1350">
                <a:solidFill>
                  <a:srgbClr val="1B3037"/>
                </a:solidFill>
                <a:latin typeface="DM Sans"/>
              </a:rPr>
              <a:t>•  The same photos also show leaks, corrosion and rust, breakages, missing guards and valve positions</a:t>
            </a:r>
          </a:p>
          <a:p>
            <a:pPr>
              <a:spcAft>
                <a:spcPts val="600"/>
              </a:spcAft>
            </a:pPr>
            <a:r>
              <a:rPr sz="1350">
                <a:solidFill>
                  <a:srgbClr val="1B3037"/>
                </a:solidFill>
                <a:latin typeface="DM Sans"/>
              </a:rPr>
              <a:t>•  A new inspection type is a new prompt and output fields, not a new project</a:t>
            </a:r>
          </a:p>
          <a:p>
            <a:pPr>
              <a:spcAft>
                <a:spcPts val="600"/>
              </a:spcAft>
            </a:pPr>
            <a:r>
              <a:rPr sz="1350">
                <a:solidFill>
                  <a:srgbClr val="1B3037"/>
                </a:solidFill>
                <a:latin typeface="DM Sans"/>
              </a:rPr>
              <a:t>•  Same review queue, same governance, same Genie</a:t>
            </a:r>
          </a:p>
        </p:txBody>
      </p:sp>
      <p:sp>
        <p:nvSpPr>
          <p:cNvPr id="8" name="Rectangle 7"/>
          <p:cNvSpPr/>
          <p:nvPr/>
        </p:nvSpPr>
        <p:spPr>
          <a:xfrm>
            <a:off x="345643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Open, not a black box</a:t>
            </a:r>
          </a:p>
          <a:p>
            <a:pPr>
              <a:spcAft>
                <a:spcPts val="600"/>
              </a:spcAft>
            </a:pPr>
            <a:r>
              <a:rPr sz="1350">
                <a:solidFill>
                  <a:srgbClr val="1B3037"/>
                </a:solidFill>
                <a:latin typeface="DM Sans"/>
              </a:rPr>
              <a:t>•  Foundation vision models instead of hand-built computer vision that needs tuning per dial, angle and light</a:t>
            </a:r>
          </a:p>
          <a:p>
            <a:pPr>
              <a:spcAft>
                <a:spcPts val="600"/>
              </a:spcAft>
            </a:pPr>
            <a:r>
              <a:rPr sz="1350">
                <a:solidFill>
                  <a:srgbClr val="1B3037"/>
                </a:solidFill>
                <a:latin typeface="DM Sans"/>
              </a:rPr>
              <a:t>•  No third-party vendor or per-image fee; prompts, data and results stay in your lakehouse</a:t>
            </a:r>
          </a:p>
          <a:p>
            <a:pPr>
              <a:spcAft>
                <a:spcPts val="600"/>
              </a:spcAft>
            </a:pPr>
            <a:r>
              <a:rPr sz="1350">
                <a:solidFill>
                  <a:srgbClr val="1B3037"/>
                </a:solidFill>
                <a:latin typeface="DM Sans"/>
              </a:rPr>
              <a:t>•  Swap models through Unity AI Gateway</a:t>
            </a:r>
          </a:p>
        </p:txBody>
      </p:sp>
      <p:sp>
        <p:nvSpPr>
          <p:cNvPr id="11" name="Rectangle 10"/>
          <p:cNvSpPr/>
          <p:nvPr/>
        </p:nvSpPr>
        <p:spPr>
          <a:xfrm>
            <a:off x="615391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5391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Specialise when it pays</a:t>
            </a:r>
          </a:p>
          <a:p>
            <a:pPr>
              <a:spcAft>
                <a:spcPts val="600"/>
              </a:spcAft>
            </a:pPr>
            <a:r>
              <a:rPr sz="1350">
                <a:solidFill>
                  <a:srgbClr val="1B3037"/>
                </a:solidFill>
                <a:latin typeface="DM Sans"/>
              </a:rPr>
              <a:t>•  The model is an example: start with a foundation model, no training needed</a:t>
            </a:r>
          </a:p>
          <a:p>
            <a:pPr>
              <a:spcAft>
                <a:spcPts val="600"/>
              </a:spcAft>
            </a:pPr>
            <a:r>
              <a:rPr sz="1350">
                <a:solidFill>
                  <a:srgbClr val="1B3037"/>
                </a:solidFill>
                <a:latin typeface="DM Sans"/>
              </a:rPr>
              <a:t>•  Every reviewer correction becomes a labelled example</a:t>
            </a:r>
          </a:p>
          <a:p>
            <a:pPr>
              <a:spcAft>
                <a:spcPts val="600"/>
              </a:spcAft>
            </a:pPr>
            <a:r>
              <a:rPr sz="1350">
                <a:solidFill>
                  <a:srgbClr val="1B3037"/>
                </a:solidFill>
                <a:latin typeface="DM Sans"/>
              </a:rPr>
              <a:t>•  Fine-tune specialist models (gauge reading, rust detection) and evaluate them before switching</a:t>
            </a:r>
          </a:p>
        </p:txBody>
      </p:sp>
      <p:sp>
        <p:nvSpPr>
          <p:cNvPr id="14" name="Rectangle 13"/>
          <p:cNvSpPr/>
          <p:nvPr/>
        </p:nvSpPr>
        <p:spPr>
          <a:xfrm>
            <a:off x="885139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598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Any cloud, any robot</a:t>
            </a:r>
          </a:p>
          <a:p>
            <a:pPr>
              <a:spcAft>
                <a:spcPts val="600"/>
              </a:spcAft>
            </a:pPr>
            <a:r>
              <a:rPr sz="1350">
                <a:solidFill>
                  <a:srgbClr val="1B3037"/>
                </a:solidFill>
                <a:latin typeface="DM Sans"/>
              </a:rPr>
              <a:t>•  Runs on Databricks on AWS, Azure and Google Cloud, deployed as one bundle¹</a:t>
            </a:r>
          </a:p>
          <a:p>
            <a:pPr>
              <a:spcAft>
                <a:spcPts val="600"/>
              </a:spcAft>
            </a:pPr>
            <a:r>
              <a:rPr sz="1350">
                <a:solidFill>
                  <a:srgbClr val="1B3037"/>
                </a:solidFill>
                <a:latin typeface="DM Sans"/>
              </a:rPr>
              <a:t>•  Works with photos from any robot, drone or handheld camera</a:t>
            </a:r>
          </a:p>
          <a:p>
            <a:pPr>
              <a:spcAft>
                <a:spcPts val="600"/>
              </a:spcAft>
            </a:pPr>
            <a:r>
              <a:rPr sz="1350">
                <a:solidFill>
                  <a:srgbClr val="1B3037"/>
                </a:solidFill>
                <a:latin typeface="DM Sans"/>
              </a:rPr>
              <a:t>•  No lock-in to a robot or vision vendor</a:t>
            </a:r>
          </a:p>
        </p:txBody>
      </p:sp>
      <p:sp>
        <p:nvSpPr>
          <p:cNvPr id="17" name="TextBox 1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Lakebase is in Beta on Google Cloud; where Lakehouse Sync (Lakebase → Delta) is not yet available, a scheduled MERGE returns review decisions to Delta (DECISIONS D4).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classic vision and vendors</a:t>
            </a:r>
          </a:p>
        </p:txBody>
      </p:sp>
      <p:sp>
        <p:nvSpPr>
          <p:cNvPr id="4" name="Text Placeholder 3"/>
          <p:cNvSpPr>
            <a:spLocks noGrp="1"/>
          </p:cNvSpPr>
          <p:nvPr>
            <p:ph type="body" idx="2"/>
          </p:nvPr>
        </p:nvSpPr>
        <p:spPr/>
        <p:txBody>
          <a:bodyPr/>
          <a:lstStyle/>
          <a:p>
            <a:r>
              <a:t>Foundation models on an open platform change the economics</a:t>
            </a:r>
          </a:p>
        </p:txBody>
      </p:sp>
      <p:graphicFrame>
        <p:nvGraphicFramePr>
          <p:cNvPr id="5" name="Table 4"/>
          <p:cNvGraphicFramePr>
            <a:graphicFrameLocks noGrp="1"/>
          </p:cNvGraphicFramePr>
          <p:nvPr/>
        </p:nvGraphicFramePr>
        <p:xfrm>
          <a:off x="761825" y="1714513"/>
          <a:ext cx="10659300" cy="4114800"/>
        </p:xfrm>
        <a:graphic>
          <a:graphicData uri="http://schemas.openxmlformats.org/drawingml/2006/table">
            <a:tbl>
              <a:tblPr firstRow="1" bandRow="1">
                <a:tableStyleId>{5C22544A-7EE6-4342-B048-85BDC9FD1C3A}</a:tableStyleId>
              </a:tblPr>
              <a:tblGrid>
                <a:gridCol w="2025267"/>
                <a:gridCol w="2664825"/>
                <a:gridCol w="2451639"/>
                <a:gridCol w="3517569"/>
              </a:tblGrid>
              <a:tr h="587828">
                <a:tc>
                  <a:txBody>
                    <a:bodyPr wrap="square" anchor="ctr" lIns="45720" rIns="45720"/>
                    <a:lstStyle/>
                    <a:p>
                      <a:pPr algn="l"/>
                      <a:r>
                        <a:rPr sz="1300" b="1">
                          <a:solidFill>
                            <a:srgbClr val="FFFFFF"/>
                          </a:solidFill>
                          <a:latin typeface="DM Sans"/>
                        </a:rPr>
                        <a:t/>
                      </a:r>
                    </a:p>
                  </a:txBody>
                  <a:tcPr>
                    <a:solidFill>
                      <a:srgbClr val="1B3037"/>
                    </a:solidFill>
                  </a:tcPr>
                </a:tc>
                <a:tc>
                  <a:txBody>
                    <a:bodyPr wrap="square" anchor="ctr" lIns="45720" rIns="45720"/>
                    <a:lstStyle/>
                    <a:p>
                      <a:pPr algn="l"/>
                      <a:r>
                        <a:rPr sz="1300" b="1">
                          <a:solidFill>
                            <a:srgbClr val="FFFFFF"/>
                          </a:solidFill>
                          <a:latin typeface="DM Sans"/>
                        </a:rPr>
                        <a:t>Bespoke computer vision</a:t>
                      </a:r>
                    </a:p>
                  </a:txBody>
                  <a:tcPr>
                    <a:solidFill>
                      <a:srgbClr val="1B3037"/>
                    </a:solidFill>
                  </a:tcPr>
                </a:tc>
                <a:tc>
                  <a:txBody>
                    <a:bodyPr wrap="square" anchor="ctr" lIns="45720" rIns="45720"/>
                    <a:lstStyle/>
                    <a:p>
                      <a:pPr algn="l"/>
                      <a:r>
                        <a:rPr sz="1300" b="1">
                          <a:solidFill>
                            <a:srgbClr val="FFFFFF"/>
                          </a:solidFill>
                          <a:latin typeface="DM Sans"/>
                        </a:rPr>
                        <a:t>Third-party vendor</a:t>
                      </a:r>
                    </a:p>
                  </a:txBody>
                  <a:tcPr>
                    <a:solidFill>
                      <a:srgbClr val="1B3037"/>
                    </a:solidFill>
                  </a:tcPr>
                </a:tc>
                <a:tc>
                  <a:txBody>
                    <a:bodyPr wrap="square" anchor="ctr" lIns="45720" rIns="45720"/>
                    <a:lstStyle/>
                    <a:p>
                      <a:pPr algn="l"/>
                      <a:r>
                        <a:rPr sz="1300" b="1">
                          <a:solidFill>
                            <a:srgbClr val="FFFFFF"/>
                          </a:solidFill>
                          <a:latin typeface="DM Sans"/>
                        </a:rPr>
                        <a:t>Foundation models on Databricks</a:t>
                      </a:r>
                    </a:p>
                  </a:txBody>
                  <a:tcPr>
                    <a:solidFill>
                      <a:srgbClr val="FF3621"/>
                    </a:solidFill>
                  </a:tcPr>
                </a:tc>
              </a:tr>
              <a:tr h="587828">
                <a:tc>
                  <a:txBody>
                    <a:bodyPr wrap="square" anchor="ctr" lIns="45720" rIns="45720"/>
                    <a:lstStyle/>
                    <a:p>
                      <a:pPr algn="l"/>
                      <a:r>
                        <a:rPr sz="1200" b="1">
                          <a:solidFill>
                            <a:srgbClr val="1B3037"/>
                          </a:solidFill>
                          <a:latin typeface="DM Sans"/>
                        </a:rPr>
                        <a:t>New inspection type</a:t>
                      </a:r>
                    </a:p>
                  </a:txBody>
                  <a:tcPr>
                    <a:solidFill>
                      <a:srgbClr val="F4F6F7"/>
                    </a:solidFill>
                  </a:tcPr>
                </a:tc>
                <a:tc>
                  <a:txBody>
                    <a:bodyPr wrap="square" anchor="ctr" lIns="45720" rIns="45720"/>
                    <a:lstStyle/>
                    <a:p>
                      <a:pPr algn="l"/>
                      <a:r>
                        <a:rPr sz="1200" b="0">
                          <a:solidFill>
                            <a:srgbClr val="1B3037"/>
                          </a:solidFill>
                          <a:latin typeface="DM Sans"/>
                        </a:rPr>
                        <a:t>New detection, segmentation and OCR models to build</a:t>
                      </a:r>
                    </a:p>
                  </a:txBody>
                  <a:tcPr>
                    <a:solidFill>
                      <a:srgbClr val="F4F6F7"/>
                    </a:solidFill>
                  </a:tcPr>
                </a:tc>
                <a:tc>
                  <a:txBody>
                    <a:bodyPr wrap="square" anchor="ctr" lIns="45720" rIns="45720"/>
                    <a:lstStyle/>
                    <a:p>
                      <a:pPr algn="l"/>
                      <a:r>
                        <a:rPr sz="1200" b="0">
                          <a:solidFill>
                            <a:srgbClr val="1B3037"/>
                          </a:solidFill>
                          <a:latin typeface="DM Sans"/>
                        </a:rPr>
                        <a:t>Wait for the vendor's roadmap</a:t>
                      </a:r>
                    </a:p>
                  </a:txBody>
                  <a:tcPr>
                    <a:solidFill>
                      <a:srgbClr val="F4F6F7"/>
                    </a:solidFill>
                  </a:tcPr>
                </a:tc>
                <a:tc>
                  <a:txBody>
                    <a:bodyPr wrap="square" anchor="ctr" lIns="45720" rIns="45720"/>
                    <a:lstStyle/>
                    <a:p>
                      <a:pPr algn="l"/>
                      <a:r>
                        <a:rPr sz="1200" b="1">
                          <a:solidFill>
                            <a:srgbClr val="1B3037"/>
                          </a:solidFill>
                          <a:latin typeface="DM Sans"/>
                        </a:rPr>
                        <a:t>New prompt and output fields; test it the same day</a:t>
                      </a:r>
                    </a:p>
                  </a:txBody>
                  <a:tcPr>
                    <a:solidFill>
                      <a:srgbClr val="FFF1EE"/>
                    </a:solidFill>
                  </a:tcPr>
                </a:tc>
              </a:tr>
              <a:tr h="587828">
                <a:tc>
                  <a:txBody>
                    <a:bodyPr wrap="square" anchor="ctr" lIns="45720" rIns="45720"/>
                    <a:lstStyle/>
                    <a:p>
                      <a:pPr algn="l"/>
                      <a:r>
                        <a:rPr sz="1200" b="1">
                          <a:solidFill>
                            <a:srgbClr val="1B3037"/>
                          </a:solidFill>
                          <a:latin typeface="DM Sans"/>
                        </a:rPr>
                        <a:t>Labelled data to start</a:t>
                      </a:r>
                    </a:p>
                  </a:txBody>
                  <a:tcPr>
                    <a:solidFill>
                      <a:srgbClr val="FFFFFF"/>
                    </a:solidFill>
                  </a:tcPr>
                </a:tc>
                <a:tc>
                  <a:txBody>
                    <a:bodyPr wrap="square" anchor="ctr" lIns="45720" rIns="45720"/>
                    <a:lstStyle/>
                    <a:p>
                      <a:pPr algn="l"/>
                      <a:r>
                        <a:rPr sz="1200" b="0">
                          <a:solidFill>
                            <a:srgbClr val="1B3037"/>
                          </a:solidFill>
                          <a:latin typeface="DM Sans"/>
                        </a:rPr>
                        <a:t>Labelled images for every gauge type and defect</a:t>
                      </a:r>
                    </a:p>
                  </a:txBody>
                  <a:tcPr>
                    <a:solidFill>
                      <a:srgbClr val="FFFFFF"/>
                    </a:solidFill>
                  </a:tcPr>
                </a:tc>
                <a:tc>
                  <a:txBody>
                    <a:bodyPr wrap="square" anchor="ctr" lIns="45720" rIns="45720"/>
                    <a:lstStyle/>
                    <a:p>
                      <a:pPr algn="l"/>
                      <a:r>
                        <a:rPr sz="1200" b="0">
                          <a:solidFill>
                            <a:srgbClr val="1B3037"/>
                          </a:solidFill>
                          <a:latin typeface="DM Sans"/>
                        </a:rPr>
                        <a:t>None, but it's the vendor's model</a:t>
                      </a:r>
                    </a:p>
                  </a:txBody>
                  <a:tcPr>
                    <a:solidFill>
                      <a:srgbClr val="FFFFFF"/>
                    </a:solidFill>
                  </a:tcPr>
                </a:tc>
                <a:tc>
                  <a:txBody>
                    <a:bodyPr wrap="square" anchor="ctr" lIns="45720" rIns="45720"/>
                    <a:lstStyle/>
                    <a:p>
                      <a:pPr algn="l"/>
                      <a:r>
                        <a:rPr sz="1200" b="1">
                          <a:solidFill>
                            <a:srgbClr val="1B3037"/>
                          </a:solidFill>
                          <a:latin typeface="DM Sans"/>
                        </a:rPr>
                        <a:t>None — reviewer corrections build a labelled set as you go</a:t>
                      </a:r>
                    </a:p>
                  </a:txBody>
                  <a:tcPr>
                    <a:solidFill>
                      <a:srgbClr val="FFF1EE"/>
                    </a:solidFill>
                  </a:tcPr>
                </a:tc>
              </a:tr>
              <a:tr h="587828">
                <a:tc>
                  <a:txBody>
                    <a:bodyPr wrap="square" anchor="ctr" lIns="45720" rIns="45720"/>
                    <a:lstStyle/>
                    <a:p>
                      <a:pPr algn="l"/>
                      <a:r>
                        <a:rPr sz="1200" b="1">
                          <a:solidFill>
                            <a:srgbClr val="1B3037"/>
                          </a:solidFill>
                          <a:latin typeface="DM Sans"/>
                        </a:rPr>
                        <a:t>Hand-tuning</a:t>
                      </a:r>
                    </a:p>
                  </a:txBody>
                  <a:tcPr>
                    <a:solidFill>
                      <a:srgbClr val="F4F6F7"/>
                    </a:solidFill>
                  </a:tcPr>
                </a:tc>
                <a:tc>
                  <a:txBody>
                    <a:bodyPr wrap="square" anchor="ctr" lIns="45720" rIns="45720"/>
                    <a:lstStyle/>
                    <a:p>
                      <a:pPr algn="l"/>
                      <a:r>
                        <a:rPr sz="1200" b="0">
                          <a:solidFill>
                            <a:srgbClr val="1B3037"/>
                          </a:solidFill>
                          <a:latin typeface="DM Sans"/>
                        </a:rPr>
                        <a:t>Per dial design, angle, glare and lighting</a:t>
                      </a:r>
                    </a:p>
                  </a:txBody>
                  <a:tcPr>
                    <a:solidFill>
                      <a:srgbClr val="F4F6F7"/>
                    </a:solidFill>
                  </a:tcPr>
                </a:tc>
                <a:tc>
                  <a:txBody>
                    <a:bodyPr wrap="square" anchor="ctr" lIns="45720" rIns="45720"/>
                    <a:lstStyle/>
                    <a:p>
                      <a:pPr algn="l"/>
                      <a:r>
                        <a:rPr sz="1200" b="0">
                          <a:solidFill>
                            <a:srgbClr val="1B3037"/>
                          </a:solidFill>
                          <a:latin typeface="DM Sans"/>
                        </a:rPr>
                        <a:t>Opaque; results still re-checked by hand</a:t>
                      </a:r>
                    </a:p>
                  </a:txBody>
                  <a:tcPr>
                    <a:solidFill>
                      <a:srgbClr val="F4F6F7"/>
                    </a:solidFill>
                  </a:tcPr>
                </a:tc>
                <a:tc>
                  <a:txBody>
                    <a:bodyPr wrap="square" anchor="ctr" lIns="45720" rIns="45720"/>
                    <a:lstStyle/>
                    <a:p>
                      <a:pPr algn="l"/>
                      <a:r>
                        <a:rPr sz="1200" b="1">
                          <a:solidFill>
                            <a:srgbClr val="1B3037"/>
                          </a:solidFill>
                          <a:latin typeface="DM Sans"/>
                        </a:rPr>
                        <a:t>Confidence score routes uncertain readings to a person</a:t>
                      </a:r>
                    </a:p>
                  </a:txBody>
                  <a:tcPr>
                    <a:solidFill>
                      <a:srgbClr val="FFF1EE"/>
                    </a:solidFill>
                  </a:tcPr>
                </a:tc>
              </a:tr>
              <a:tr h="587828">
                <a:tc>
                  <a:txBody>
                    <a:bodyPr wrap="square" anchor="ctr" lIns="45720" rIns="45720"/>
                    <a:lstStyle/>
                    <a:p>
                      <a:pPr algn="l"/>
                      <a:r>
                        <a:rPr sz="1200" b="1">
                          <a:solidFill>
                            <a:srgbClr val="1B3037"/>
                          </a:solidFill>
                          <a:latin typeface="DM Sans"/>
                        </a:rPr>
                        <a:t>Cost model</a:t>
                      </a:r>
                    </a:p>
                  </a:txBody>
                  <a:tcPr>
                    <a:solidFill>
                      <a:srgbClr val="FFFFFF"/>
                    </a:solidFill>
                  </a:tcPr>
                </a:tc>
                <a:tc>
                  <a:txBody>
                    <a:bodyPr wrap="square" anchor="ctr" lIns="45720" rIns="45720"/>
                    <a:lstStyle/>
                    <a:p>
                      <a:pPr algn="l"/>
                      <a:r>
                        <a:rPr sz="1200" b="0">
                          <a:solidFill>
                            <a:srgbClr val="1B3037"/>
                          </a:solidFill>
                          <a:latin typeface="DM Sans"/>
                        </a:rPr>
                        <a:t>GPU training plus a team to maintain it</a:t>
                      </a:r>
                    </a:p>
                  </a:txBody>
                  <a:tcPr>
                    <a:solidFill>
                      <a:srgbClr val="FFFFFF"/>
                    </a:solidFill>
                  </a:tcPr>
                </a:tc>
                <a:tc>
                  <a:txBody>
                    <a:bodyPr wrap="square" anchor="ctr" lIns="45720" rIns="45720"/>
                    <a:lstStyle/>
                    <a:p>
                      <a:pPr algn="l"/>
                      <a:r>
                        <a:rPr sz="1200" b="0">
                          <a:solidFill>
                            <a:srgbClr val="1B3037"/>
                          </a:solidFill>
                          <a:latin typeface="DM Sans"/>
                        </a:rPr>
                        <a:t>Fee per image</a:t>
                      </a:r>
                    </a:p>
                  </a:txBody>
                  <a:tcPr>
                    <a:solidFill>
                      <a:srgbClr val="FFFFFF"/>
                    </a:solidFill>
                  </a:tcPr>
                </a:tc>
                <a:tc>
                  <a:txBody>
                    <a:bodyPr wrap="square" anchor="ctr" lIns="45720" rIns="45720"/>
                    <a:lstStyle/>
                    <a:p>
                      <a:pPr algn="l"/>
                      <a:r>
                        <a:rPr sz="1200" b="1">
                          <a:solidFill>
                            <a:srgbClr val="1B3037"/>
                          </a:solidFill>
                          <a:latin typeface="DM Sans"/>
                        </a:rPr>
                        <a:t>Pay per token: ~$0.04 per gauge reading²</a:t>
                      </a:r>
                    </a:p>
                  </a:txBody>
                  <a:tcPr>
                    <a:solidFill>
                      <a:srgbClr val="FFF1EE"/>
                    </a:solidFill>
                  </a:tcPr>
                </a:tc>
              </a:tr>
              <a:tr h="587828">
                <a:tc>
                  <a:txBody>
                    <a:bodyPr wrap="square" anchor="ctr" lIns="45720" rIns="45720"/>
                    <a:lstStyle/>
                    <a:p>
                      <a:pPr algn="l"/>
                      <a:r>
                        <a:rPr sz="1200" b="1">
                          <a:solidFill>
                            <a:srgbClr val="1B3037"/>
                          </a:solidFill>
                          <a:latin typeface="DM Sans"/>
                        </a:rPr>
                        <a:t>Data and governance</a:t>
                      </a:r>
                    </a:p>
                  </a:txBody>
                  <a:tcPr>
                    <a:solidFill>
                      <a:srgbClr val="F4F6F7"/>
                    </a:solidFill>
                  </a:tcPr>
                </a:tc>
                <a:tc>
                  <a:txBody>
                    <a:bodyPr wrap="square" anchor="ctr" lIns="45720" rIns="45720"/>
                    <a:lstStyle/>
                    <a:p>
                      <a:pPr algn="l"/>
                      <a:r>
                        <a:rPr sz="1200" b="0">
                          <a:solidFill>
                            <a:srgbClr val="1B3037"/>
                          </a:solidFill>
                          <a:latin typeface="DM Sans"/>
                        </a:rPr>
                        <a:t>A separate stack to secure</a:t>
                      </a:r>
                    </a:p>
                  </a:txBody>
                  <a:tcPr>
                    <a:solidFill>
                      <a:srgbClr val="F4F6F7"/>
                    </a:solidFill>
                  </a:tcPr>
                </a:tc>
                <a:tc>
                  <a:txBody>
                    <a:bodyPr wrap="square" anchor="ctr" lIns="45720" rIns="45720"/>
                    <a:lstStyle/>
                    <a:p>
                      <a:pPr algn="l"/>
                      <a:r>
                        <a:rPr sz="1200" b="0">
                          <a:solidFill>
                            <a:srgbClr val="1B3037"/>
                          </a:solidFill>
                          <a:latin typeface="DM Sans"/>
                        </a:rPr>
                        <a:t>Results arrive outside your platform</a:t>
                      </a:r>
                    </a:p>
                  </a:txBody>
                  <a:tcPr>
                    <a:solidFill>
                      <a:srgbClr val="F4F6F7"/>
                    </a:solidFill>
                  </a:tcPr>
                </a:tc>
                <a:tc>
                  <a:txBody>
                    <a:bodyPr wrap="square" anchor="ctr" lIns="45720" rIns="45720"/>
                    <a:lstStyle/>
                    <a:p>
                      <a:pPr algn="l"/>
                      <a:r>
                        <a:rPr sz="1200" b="1">
                          <a:solidFill>
                            <a:srgbClr val="1B3037"/>
                          </a:solidFill>
                          <a:latin typeface="DM Sans"/>
                        </a:rPr>
                        <a:t>Unity Catalog: grants, lineage, audit</a:t>
                      </a:r>
                    </a:p>
                  </a:txBody>
                  <a:tcPr>
                    <a:solidFill>
                      <a:srgbClr val="FFF1EE"/>
                    </a:solidFill>
                  </a:tcPr>
                </a:tc>
              </a:tr>
              <a:tr h="587832">
                <a:tc>
                  <a:txBody>
                    <a:bodyPr wrap="square" anchor="ctr" lIns="45720" rIns="45720"/>
                    <a:lstStyle/>
                    <a:p>
                      <a:pPr algn="l"/>
                      <a:r>
                        <a:rPr sz="1200" b="1">
                          <a:solidFill>
                            <a:srgbClr val="1B3037"/>
                          </a:solidFill>
                          <a:latin typeface="DM Sans"/>
                        </a:rPr>
                        <a:t>Improves over time</a:t>
                      </a:r>
                    </a:p>
                  </a:txBody>
                  <a:tcPr>
                    <a:solidFill>
                      <a:srgbClr val="FFFFFF"/>
                    </a:solidFill>
                  </a:tcPr>
                </a:tc>
                <a:tc>
                  <a:txBody>
                    <a:bodyPr wrap="square" anchor="ctr" lIns="45720" rIns="45720"/>
                    <a:lstStyle/>
                    <a:p>
                      <a:pPr algn="l"/>
                      <a:r>
                        <a:rPr sz="1200" b="0">
                          <a:solidFill>
                            <a:srgbClr val="1B3037"/>
                          </a:solidFill>
                          <a:latin typeface="DM Sans"/>
                        </a:rPr>
                        <a:t>Only when someone retrains it</a:t>
                      </a:r>
                    </a:p>
                  </a:txBody>
                  <a:tcPr>
                    <a:solidFill>
                      <a:srgbClr val="FFFFFF"/>
                    </a:solidFill>
                  </a:tcPr>
                </a:tc>
                <a:tc>
                  <a:txBody>
                    <a:bodyPr wrap="square" anchor="ctr" lIns="45720" rIns="45720"/>
                    <a:lstStyle/>
                    <a:p>
                      <a:pPr algn="l"/>
                      <a:r>
                        <a:rPr sz="1200" b="0">
                          <a:solidFill>
                            <a:srgbClr val="1B3037"/>
                          </a:solidFill>
                          <a:latin typeface="DM Sans"/>
                        </a:rPr>
                        <a:t>On the vendor's terms</a:t>
                      </a:r>
                    </a:p>
                  </a:txBody>
                  <a:tcPr>
                    <a:solidFill>
                      <a:srgbClr val="FFFFFF"/>
                    </a:solidFill>
                  </a:tcPr>
                </a:tc>
                <a:tc>
                  <a:txBody>
                    <a:bodyPr wrap="square" anchor="ctr" lIns="45720" rIns="45720"/>
                    <a:lstStyle/>
                    <a:p>
                      <a:pPr algn="l"/>
                      <a:r>
                        <a:rPr sz="1200" b="1">
                          <a:solidFill>
                            <a:srgbClr val="1B3037"/>
                          </a:solidFill>
                          <a:latin typeface="DM Sans"/>
                        </a:rPr>
                        <a:t>Swap or fine-tune models through Unity AI Gateway</a:t>
                      </a:r>
                    </a:p>
                  </a:txBody>
                  <a:tcPr>
                    <a:solidFill>
                      <a:srgbClr val="FFF1EE"/>
                    </a:solidFill>
                  </a:tcPr>
                </a:tc>
              </a:tr>
            </a:tbl>
          </a:graphicData>
        </a:graphic>
      </p:graphicFrame>
      <p:sp>
        <p:nvSpPr>
          <p:cNvPr id="6" name="TextBox 5"/>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² Build run: GPT-5.5 via Unity AI Gateway at list price (evidence/07_gateway.md). Bespoke pipeline steps as described in Reitsma et al., ETH Zurich, ICRA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or any fine-tuned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376672"/>
            <a:ext cx="3401568" cy="603504"/>
          </a:xfrm>
          <a:prstGeom prst="rect">
            <a:avLst/>
          </a:prstGeom>
          <a:noFill/>
        </p:spPr>
        <p:txBody>
          <a:bodyPr wrap="square" anchor="t" lIns="45720" rIns="45720">
            <a:spAutoFit/>
          </a:bodyPr>
          <a:lstStyle/>
          <a:p>
            <a:pPr algn="l"/>
            <a:r>
              <a:rPr sz="900" b="1">
                <a:solidFill>
                  <a:srgbClr val="FF3621"/>
                </a:solidFill>
                <a:latin typeface="DM Sans"/>
              </a:rPr>
              <a:t>Human in the loop  </a:t>
            </a:r>
            <a:r>
              <a:rPr sz="900" b="0">
                <a:solidFill>
                  <a:srgbClr val="1B3037"/>
                </a:solidFill>
                <a:latin typeface="DM Sans"/>
              </a:rPr>
              <a:t>confidence &lt; 70%, unreadable or unexpectedly high → a reviewer; decisions appended, never overwritten</a:t>
            </a:r>
          </a:p>
        </p:txBody>
      </p:sp>
      <p:sp>
        <p:nvSpPr>
          <p:cNvPr id="57" name="TextBox 56"/>
          <p:cNvSpPr txBox="1"/>
          <p:nvPr/>
        </p:nvSpPr>
        <p:spPr>
          <a:xfrm>
            <a:off x="4562855"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Catalog  </a:t>
            </a:r>
            <a:r>
              <a:rPr sz="900" b="0">
                <a:solidFill>
                  <a:srgbClr val="1B3037"/>
                </a:solidFill>
                <a:latin typeface="DM Sans"/>
              </a:rPr>
              <a:t>analysts see gold only; the app reads photos read-only; Genie runs as the signed-in user</a:t>
            </a:r>
          </a:p>
        </p:txBody>
      </p:sp>
      <p:sp>
        <p:nvSpPr>
          <p:cNvPr id="58" name="TextBox 57"/>
          <p:cNvSpPr txBox="1"/>
          <p:nvPr/>
        </p:nvSpPr>
        <p:spPr>
          <a:xfrm>
            <a:off x="8074152"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AI Gateway  </a:t>
            </a:r>
            <a:r>
              <a:rPr sz="900" b="0">
                <a:solidFill>
                  <a:srgbClr val="1B3037"/>
                </a:solidFill>
                <a:latin typeface="DM Sans"/>
              </a:rPr>
              <a:t>every model call attributed and costed (~$0.04 per reading); swap models without pipeline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and pilot</a:t>
            </a:r>
          </a:p>
        </p:txBody>
      </p:sp>
      <p:sp>
        <p:nvSpPr>
          <p:cNvPr id="3" name="Text Placeholder 2"/>
          <p:cNvSpPr>
            <a:spLocks noGrp="1"/>
          </p:cNvSpPr>
          <p:nvPr>
            <p:ph type="body" idx="1"/>
          </p:nvPr>
        </p:nvSpPr>
        <p:spPr/>
        <p:txBody>
          <a:bodyPr/>
          <a:lstStyle/>
          <a:p>
            <a:r>
              <a:rPr sz="1500"/>
              <a:t>1 · Gauge readings: pilot at one site; unexpectedly high readings raise maintenance work orders</a:t>
            </a:r>
          </a:p>
          <a:p>
            <a:r>
              <a:rPr sz="1500"/>
              <a:t>2 · Condition findings: leaks, rust and breakages from the same photos, in the same review queue</a:t>
            </a:r>
          </a:p>
          <a:p>
            <a:r>
              <a:rPr sz="1500"/>
              <a:t>3 · Specialist models: fine-tune on reviewer-labelled photos; evaluate before switching</a:t>
            </a:r>
          </a:p>
          <a:p>
            <a:r>
              <a:rPr sz="1500"/>
              <a:t>Pilot set-up: connect the robots' image export, load gauge tags and limits from the asset register, promote dev → prod with bundles</a:t>
            </a:r>
          </a:p>
        </p:txBody>
      </p:sp>
      <p:sp>
        <p:nvSpPr>
          <p:cNvPr id="4" name="Text Placeholder 3"/>
          <p:cNvSpPr>
            <a:spLocks noGrp="1"/>
          </p:cNvSpPr>
          <p:nvPr>
            <p:ph type="body" idx="2"/>
          </p:nvPr>
        </p:nvSpPr>
        <p:spPr/>
        <p:txBody>
          <a:bodyPr/>
          <a:lstStyle/>
          <a:p>
            <a:r>
              <a:rPr sz="1600"/>
              <a:t>Pilot success criteria</a:t>
            </a:r>
          </a:p>
          <a:p>
            <a:r>
              <a:rPr sz="1600"/>
              <a:t>One site, 8 weeks, ~500 gauges</a:t>
            </a:r>
          </a:p>
          <a:p>
            <a:r>
              <a:rPr sz="1600"/>
              <a:t>At most 1 in 5 readings sent to review</a:t>
            </a:r>
          </a:p>
          <a:p>
            <a:r>
              <a:rPr sz="1600"/>
              <a:t>≥ 95% of auto-accepted readings within ±2% of full scale (weekly spot check)</a:t>
            </a:r>
          </a:p>
          <a:p>
            <a:r>
              <a:rPr sz="1600"/>
              <a:t>~4,900 hours a year of reading and re-checking removed (run rate)</a:t>
            </a:r>
          </a:p>
          <a:p>
            <a:r>
              <a:rPr sz="1600"/>
              <a:t>Every reading traceable from photo to answer</a:t>
            </a:r>
          </a:p>
        </p:txBody>
      </p:sp>
      <p:sp>
        <p:nvSpPr>
          <p:cNvPr id="5" name="Text Placeholder 4"/>
          <p:cNvSpPr>
            <a:spLocks noGrp="1"/>
          </p:cNvSpPr>
          <p:nvPr>
            <p:ph type="body" idx="3"/>
          </p:nvPr>
        </p:nvSpPr>
        <p:spPr/>
        <p:txBody>
          <a:bodyPr/>
          <a:lstStyle/>
          <a:p>
            <a:r>
              <a:t>Each phase reuses the pipeline, review app, governance and Genie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read, every finding governed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Pipeline run</a:t>
            </a:r>
          </a:p>
        </p:txBody>
      </p:sp>
      <p:sp>
        <p:nvSpPr>
          <p:cNvPr id="4" name="Text Placeholder 3"/>
          <p:cNvSpPr>
            <a:spLocks noGrp="1"/>
          </p:cNvSpPr>
          <p:nvPr>
            <p:ph type="body" idx="2"/>
          </p:nvPr>
        </p:nvSpPr>
        <p:spPr/>
        <p:txBody>
          <a:bodyPr/>
          <a:lstStyle/>
          <a:p>
            <a:r>
              <a:t>Evidence: Lakeflow event log — 30 photos read once</a:t>
            </a:r>
          </a:p>
        </p:txBody>
      </p:sp>
      <p:sp>
        <p:nvSpPr>
          <p:cNvPr id="5" name="TextBox 4"/>
          <p:cNvSpPr txBox="1"/>
          <p:nvPr/>
        </p:nvSpPr>
        <p:spPr>
          <a:xfrm>
            <a:off x="758952" y="1783080"/>
            <a:ext cx="10698480" cy="265176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Pipeline update (serverless, triggered)</a:t>
            </a:r>
          </a:p>
          <a:p>
            <a:pPr>
              <a:spcAft>
                <a:spcPts val="0"/>
              </a:spcAft>
            </a:pPr>
            <a:r>
              <a:rPr sz="1050">
                <a:solidFill>
                  <a:srgbClr val="1B3037"/>
                </a:solidFill>
                <a:latin typeface="Courier New"/>
              </a:rPr>
              <a:t>update 177c2109-d3f2-49aa-846d-8b434c3b6861   COMPLETED   full_refresh=False</a:t>
            </a:r>
          </a:p>
          <a:p>
            <a:pPr>
              <a:spcAft>
                <a:spcPts val="0"/>
              </a:spcAft>
            </a:pPr>
            <a:r>
              <a:rPr sz="1050">
                <a:solidFill>
                  <a:srgbClr val="1B3037"/>
                </a:solidFill>
                <a:latin typeface="Courier New"/>
              </a:rPr>
              <a:t>started 2026-10-06 12:49:11 UTC   finished 12:51:52 UTC   duration 161 s</a:t>
            </a:r>
          </a:p>
          <a:p>
            <a:pPr>
              <a:spcAft>
                <a:spcPts val="0"/>
              </a:spcAft>
            </a:pPr>
            <a:r>
              <a:rPr sz="1050">
                <a:solidFill>
                  <a:srgbClr val="1B3037"/>
                </a:solidFill>
                <a:latin typeface="Courier New"/>
              </a:rPr>
              <a:t> </a:t>
            </a:r>
          </a:p>
          <a:p>
            <a:pPr>
              <a:spcAft>
                <a:spcPts val="0"/>
              </a:spcAft>
            </a:pPr>
            <a:r>
              <a:rPr sz="1050">
                <a:solidFill>
                  <a:srgbClr val="1B3037"/>
                </a:solidFill>
                <a:latin typeface="Courier New"/>
              </a:rPr>
              <a:t>flow                        type               output_rows</a:t>
            </a:r>
          </a:p>
          <a:p>
            <a:pPr>
              <a:spcAft>
                <a:spcPts val="0"/>
              </a:spcAft>
            </a:pPr>
            <a:r>
              <a:rPr sz="1050">
                <a:solidFill>
                  <a:srgbClr val="1B3037"/>
                </a:solidFill>
                <a:latin typeface="Courier New"/>
              </a:rPr>
              <a:t>bronze_gauge_readings_ai    streaming table    30   &lt;- Auto Loader + ai_query: one model call per photo</a:t>
            </a:r>
          </a:p>
          <a:p>
            <a:pPr>
              <a:spcAft>
                <a:spcPts val="0"/>
              </a:spcAft>
            </a:pPr>
            <a:r>
              <a:rPr sz="1050">
                <a:solidFill>
                  <a:srgbClr val="1B3037"/>
                </a:solidFill>
                <a:latin typeface="Courier New"/>
              </a:rPr>
              <a:t>bronze_gauge_metadata       streaming table    30</a:t>
            </a:r>
          </a:p>
          <a:p>
            <a:pPr>
              <a:spcAft>
                <a:spcPts val="0"/>
              </a:spcAft>
            </a:pPr>
            <a:r>
              <a:rPr sz="1050">
                <a:solidFill>
                  <a:srgbClr val="1B3037"/>
                </a:solidFill>
                <a:latin typeface="Courier New"/>
              </a:rPr>
              <a:t>silver_gauge_readings       streaming table    30</a:t>
            </a:r>
          </a:p>
          <a:p>
            <a:pPr>
              <a:spcAft>
                <a:spcPts val="0"/>
              </a:spcAft>
            </a:pPr>
            <a:r>
              <a:rPr sz="1050">
                <a:solidFill>
                  <a:srgbClr val="1B3037"/>
                </a:solidFill>
                <a:latin typeface="Courier New"/>
              </a:rPr>
              <a:t>quarantine_vlm_errors       streaming table     0   &lt;- no failed model calls</a:t>
            </a:r>
          </a:p>
          <a:p>
            <a:pPr>
              <a:spcAft>
                <a:spcPts val="0"/>
              </a:spcAft>
            </a:pPr>
            <a:r>
              <a:rPr sz="1050">
                <a:solidFill>
                  <a:srgbClr val="1B3037"/>
                </a:solidFill>
                <a:latin typeface="Courier New"/>
              </a:rPr>
              <a:t>gold_gauge_readings_final   materialized view  30</a:t>
            </a:r>
          </a:p>
          <a:p>
            <a:pPr>
              <a:spcAft>
                <a:spcPts val="0"/>
              </a:spcAft>
            </a:pPr>
            <a:r>
              <a:rPr sz="1050">
                <a:solidFill>
                  <a:srgbClr val="1B3037"/>
                </a:solidFill>
                <a:latin typeface="Courier New"/>
              </a:rPr>
              <a:t>Later updates incl. the refresh job (cause JOB_TASK): bronze_gauge_readings_ai = 0 rows each time -&gt; no photo re-read</a:t>
            </a:r>
          </a:p>
        </p:txBody>
      </p:sp>
      <p:sp>
        <p:nvSpPr>
          <p:cNvPr id="6" name="TextBox 5"/>
          <p:cNvSpPr txBox="1"/>
          <p:nvPr/>
        </p:nvSpPr>
        <p:spPr>
          <a:xfrm>
            <a:off x="758952" y="4434840"/>
            <a:ext cx="5394960" cy="173736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Data-quality expectations (event log)</a:t>
            </a:r>
          </a:p>
          <a:p>
            <a:pPr>
              <a:spcAft>
                <a:spcPts val="0"/>
              </a:spcAft>
            </a:pPr>
            <a:r>
              <a:rPr sz="1050">
                <a:solidFill>
                  <a:srgbClr val="1B3037"/>
                </a:solidFill>
                <a:latin typeface="Courier New"/>
              </a:rPr>
              <a:t>expectation            passed  failed</a:t>
            </a:r>
          </a:p>
          <a:p>
            <a:pPr>
              <a:spcAft>
                <a:spcPts val="0"/>
              </a:spcAft>
            </a:pPr>
            <a:r>
              <a:rPr sz="1050">
                <a:solidFill>
                  <a:srgbClr val="1B3037"/>
                </a:solidFill>
                <a:latin typeface="Courier New"/>
              </a:rPr>
              <a:t>vlm_call_succeeded       30      0</a:t>
            </a:r>
          </a:p>
          <a:p>
            <a:pPr>
              <a:spcAft>
                <a:spcPts val="0"/>
              </a:spcAft>
            </a:pPr>
            <a:r>
              <a:rPr sz="1050">
                <a:solidFill>
                  <a:srgbClr val="1B3037"/>
                </a:solidFill>
                <a:latin typeface="Courier New"/>
              </a:rPr>
              <a:t>response_parsed          30      0</a:t>
            </a:r>
          </a:p>
          <a:p>
            <a:pPr>
              <a:spcAft>
                <a:spcPts val="0"/>
              </a:spcAft>
            </a:pPr>
            <a:r>
              <a:rPr sz="1050">
                <a:solidFill>
                  <a:srgbClr val="1B3037"/>
                </a:solidFill>
                <a:latin typeface="Courier New"/>
              </a:rPr>
              <a:t>reading_within_scale     30      0</a:t>
            </a:r>
          </a:p>
          <a:p>
            <a:pPr>
              <a:spcAft>
                <a:spcPts val="0"/>
              </a:spcAft>
            </a:pPr>
            <a:r>
              <a:rPr sz="1050">
                <a:solidFill>
                  <a:srgbClr val="1B3037"/>
                </a:solidFill>
                <a:latin typeface="Courier New"/>
              </a:rPr>
              <a:t>unit_present             29      1  (warn, routed to review)</a:t>
            </a:r>
          </a:p>
          <a:p>
            <a:pPr>
              <a:spcAft>
                <a:spcPts val="0"/>
              </a:spcAft>
            </a:pPr>
            <a:r>
              <a:rPr sz="1050">
                <a:solidFill>
                  <a:srgbClr val="1B3037"/>
                </a:solidFill>
                <a:latin typeface="Courier New"/>
              </a:rPr>
              <a:t>gauge_id_present         30      0</a:t>
            </a:r>
          </a:p>
        </p:txBody>
      </p:sp>
      <p:sp>
        <p:nvSpPr>
          <p:cNvPr id="7" name="TextBox 6"/>
          <p:cNvSpPr txBox="1"/>
          <p:nvPr/>
        </p:nvSpPr>
        <p:spPr>
          <a:xfrm>
            <a:off x="6309360" y="4434840"/>
            <a:ext cx="5212080" cy="173736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Unity AI Gateway (system.ai_gateway.usage)</a:t>
            </a:r>
          </a:p>
          <a:p>
            <a:pPr>
              <a:spcAft>
                <a:spcPts val="0"/>
              </a:spcAft>
            </a:pPr>
            <a:r>
              <a:rPr sz="1050">
                <a:solidFill>
                  <a:srgbClr val="1B3037"/>
                </a:solidFill>
                <a:latin typeface="Courier New"/>
              </a:rPr>
              <a:t>service   system.ai.gpt-5-5   source AI_QUERY</a:t>
            </a:r>
          </a:p>
          <a:p>
            <a:pPr>
              <a:spcAft>
                <a:spcPts val="0"/>
              </a:spcAft>
            </a:pPr>
            <a:r>
              <a:rPr sz="1050">
                <a:solidFill>
                  <a:srgbClr val="1B3037"/>
                </a:solidFill>
                <a:latin typeface="Courier New"/>
              </a:rPr>
              <a:t>requests  33 (30 photos + 3 test calls)</a:t>
            </a:r>
          </a:p>
          <a:p>
            <a:pPr>
              <a:spcAft>
                <a:spcPts val="0"/>
              </a:spcAft>
            </a:pPr>
            <a:r>
              <a:rPr sz="1050">
                <a:solidFill>
                  <a:srgbClr val="1B3037"/>
                </a:solidFill>
                <a:latin typeface="Courier New"/>
              </a:rPr>
              <a:t>errors    0</a:t>
            </a:r>
          </a:p>
          <a:p>
            <a:pPr>
              <a:spcAft>
                <a:spcPts val="0"/>
              </a:spcAft>
            </a:pPr>
            <a:r>
              <a:rPr sz="1050">
                <a:solidFill>
                  <a:srgbClr val="1B3037"/>
                </a:solidFill>
                <a:latin typeface="Courier New"/>
              </a:rPr>
              <a:t>tokens    65,063 in / 31,717 out</a:t>
            </a:r>
          </a:p>
          <a:p>
            <a:pPr>
              <a:spcAft>
                <a:spcPts val="0"/>
              </a:spcAft>
            </a:pPr>
            <a:r>
              <a:rPr sz="1050">
                <a:solidFill>
                  <a:srgbClr val="1B3037"/>
                </a:solidFill>
                <a:latin typeface="Courier New"/>
              </a:rPr>
              <a:t>cost      $1.2688 at list price</a:t>
            </a:r>
          </a:p>
          <a:p>
            <a:pPr>
              <a:spcAft>
                <a:spcPts val="0"/>
              </a:spcAft>
            </a:pPr>
            <a:r>
              <a:rPr sz="1050">
                <a:solidFill>
                  <a:srgbClr val="1B3037"/>
                </a:solidFill>
                <a:latin typeface="Courier New"/>
              </a:rPr>
              <a:t>          = $0.0423 per photo</a:t>
            </a:r>
          </a:p>
        </p:txBody>
      </p:sp>
      <p:sp>
        <p:nvSpPr>
          <p:cNvPr id="8" name="TextBox 7"/>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Captured 2026-10-07 15:34 UTC from the build workspace by src/setup/capture_evidence.py · full output in evidence/ (index: VALIDATION.md)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Governance and serving</a:t>
            </a:r>
          </a:p>
        </p:txBody>
      </p:sp>
      <p:sp>
        <p:nvSpPr>
          <p:cNvPr id="4" name="Text Placeholder 3"/>
          <p:cNvSpPr>
            <a:spLocks noGrp="1"/>
          </p:cNvSpPr>
          <p:nvPr>
            <p:ph type="body" idx="2"/>
          </p:nvPr>
        </p:nvSpPr>
        <p:spPr/>
        <p:txBody>
          <a:bodyPr/>
          <a:lstStyle/>
          <a:p>
            <a:r>
              <a:t>Evidence: Unity Catalog grants and Lakebase query results</a:t>
            </a:r>
          </a:p>
        </p:txBody>
      </p:sp>
      <p:sp>
        <p:nvSpPr>
          <p:cNvPr id="5" name="TextBox 4"/>
          <p:cNvSpPr txBox="1"/>
          <p:nvPr/>
        </p:nvSpPr>
        <p:spPr>
          <a:xfrm>
            <a:off x="758952" y="1783080"/>
            <a:ext cx="10698480" cy="178308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Unity Catalog: SHOW GRANTS and system.access.table_lineage</a:t>
            </a:r>
          </a:p>
          <a:p>
            <a:pPr>
              <a:spcAft>
                <a:spcPts val="0"/>
              </a:spcAft>
            </a:pPr>
            <a:r>
              <a:rPr sz="1050">
                <a:solidFill>
                  <a:srgbClr val="1B3037"/>
                </a:solidFill>
                <a:latin typeface="Courier New"/>
              </a:rPr>
              <a:t>gold_gauge_readings_final   account users          SELECT        (analysts: gold only)</a:t>
            </a:r>
          </a:p>
          <a:p>
            <a:pPr>
              <a:spcAft>
                <a:spcPts val="0"/>
              </a:spcAft>
            </a:pPr>
            <a:r>
              <a:rPr sz="1050">
                <a:solidFill>
                  <a:srgbClr val="1B3037"/>
                </a:solidFill>
                <a:latin typeface="Courier New"/>
              </a:rPr>
              <a:t>raw (volume)                app service principal  READ VOLUME   (photos read-only)</a:t>
            </a:r>
          </a:p>
          <a:p>
            <a:pPr>
              <a:spcAft>
                <a:spcPts val="0"/>
              </a:spcAft>
            </a:pPr>
            <a:r>
              <a:rPr sz="1050">
                <a:solidFill>
                  <a:srgbClr val="1B3037"/>
                </a:solidFill>
                <a:latin typeface="Courier New"/>
              </a:rPr>
              <a:t>bronze_gauge_readings_ai    no grants to analysts or the app</a:t>
            </a:r>
          </a:p>
          <a:p>
            <a:pPr>
              <a:spcAft>
                <a:spcPts val="0"/>
              </a:spcAft>
            </a:pPr>
            <a:r>
              <a:rPr sz="1050">
                <a:solidFill>
                  <a:srgbClr val="1B3037"/>
                </a:solidFill>
                <a:latin typeface="Courier New"/>
              </a:rPr>
              <a:t>system.ai model services    account users          EXECUTE</a:t>
            </a:r>
          </a:p>
          <a:p>
            <a:pPr>
              <a:spcAft>
                <a:spcPts val="0"/>
              </a:spcAft>
            </a:pPr>
            <a:r>
              <a:rPr sz="1050">
                <a:solidFill>
                  <a:srgbClr val="1B3037"/>
                </a:solidFill>
                <a:latin typeface="Courier New"/>
              </a:rPr>
              <a:t>lineage: files -&gt; bronze -&gt; silver -&gt; gold;  lb_reading_overrides_history (Lakebase decisions) -&gt; gold</a:t>
            </a:r>
          </a:p>
        </p:txBody>
      </p:sp>
      <p:sp>
        <p:nvSpPr>
          <p:cNvPr id="6" name="TextBox 5"/>
          <p:cNvSpPr txBox="1"/>
          <p:nvPr/>
        </p:nvSpPr>
        <p:spPr>
          <a:xfrm>
            <a:off x="758952" y="3429000"/>
            <a:ext cx="10698480" cy="269748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Lakebase: query on pressure_gauge.gauge_readings_serving (what the app reads)</a:t>
            </a:r>
          </a:p>
          <a:p>
            <a:pPr>
              <a:spcAft>
                <a:spcPts val="0"/>
              </a:spcAft>
            </a:pPr>
            <a:r>
              <a:rPr sz="1050">
                <a:solidFill>
                  <a:srgbClr val="1B3037"/>
                </a:solidFill>
                <a:latin typeface="Courier New"/>
              </a:rPr>
              <a:t> rows | needs_review | unexpectedly_high | human_corrected</a:t>
            </a:r>
          </a:p>
          <a:p>
            <a:pPr>
              <a:spcAft>
                <a:spcPts val="0"/>
              </a:spcAft>
            </a:pPr>
            <a:r>
              <a:rPr sz="1050">
                <a:solidFill>
                  <a:srgbClr val="1B3037"/>
                </a:solidFill>
                <a:latin typeface="Courier New"/>
              </a:rPr>
              <a:t>   30 |            9 |                 4 |               1</a:t>
            </a:r>
          </a:p>
          <a:p>
            <a:pPr>
              <a:spcAft>
                <a:spcPts val="0"/>
              </a:spcAft>
            </a:pPr>
            <a:r>
              <a:rPr sz="1050">
                <a:solidFill>
                  <a:srgbClr val="1B3037"/>
                </a:solidFill>
                <a:latin typeface="Courier New"/>
              </a:rPr>
              <a:t> </a:t>
            </a:r>
          </a:p>
          <a:p>
            <a:pPr>
              <a:spcAft>
                <a:spcPts val="0"/>
              </a:spcAft>
            </a:pPr>
            <a:r>
              <a:rPr sz="1050">
                <a:solidFill>
                  <a:srgbClr val="1B3037"/>
                </a:solidFill>
                <a:latin typeface="Courier New"/>
              </a:rPr>
              <a:t> image_id      | gauge_id | site              | value | unit    | confidence | reading_status | review_status</a:t>
            </a:r>
          </a:p>
          <a:p>
            <a:pPr>
              <a:spcAft>
                <a:spcPts val="0"/>
              </a:spcAft>
            </a:pPr>
            <a:r>
              <a:rPr sz="1050">
                <a:solidFill>
                  <a:srgbClr val="1B3037"/>
                </a:solidFill>
                <a:latin typeface="Courier New"/>
              </a:rPr>
              <a:t> gauge_004.jpg | PI-1101  | Northbay Refinery |       | unknown |       0.00 | unreadable     | pending_review</a:t>
            </a:r>
          </a:p>
          <a:p>
            <a:pPr>
              <a:spcAft>
                <a:spcPts val="0"/>
              </a:spcAft>
            </a:pPr>
            <a:r>
              <a:rPr sz="1050">
                <a:solidFill>
                  <a:srgbClr val="1B3037"/>
                </a:solidFill>
                <a:latin typeface="Courier New"/>
              </a:rPr>
              <a:t> gauge_003.jpg | PI-6102  | Ridgeway Terminal |   190 | psi     |       0.42 | normal         | pending_review</a:t>
            </a:r>
          </a:p>
          <a:p>
            <a:pPr>
              <a:spcAft>
                <a:spcPts val="0"/>
              </a:spcAft>
            </a:pPr>
            <a:r>
              <a:rPr sz="1050">
                <a:solidFill>
                  <a:srgbClr val="1B3037"/>
                </a:solidFill>
                <a:latin typeface="Courier New"/>
              </a:rPr>
              <a:t> gauge_030.jpg | PI-4108  | Northbay Refinery |   620 | kPa     |       0.62 | high           | pending_review</a:t>
            </a:r>
          </a:p>
          <a:p>
            <a:pPr>
              <a:spcAft>
                <a:spcPts val="0"/>
              </a:spcAft>
            </a:pPr>
            <a:r>
              <a:rPr sz="1050">
                <a:solidFill>
                  <a:srgbClr val="1B3037"/>
                </a:solidFill>
                <a:latin typeface="Courier New"/>
              </a:rPr>
              <a:t> gauge_013.jpg | PI-3103  | Northbay Refinery |   187 | psi     |       0.86 | high           | pending_review</a:t>
            </a:r>
          </a:p>
        </p:txBody>
      </p:sp>
      <p:sp>
        <p:nvSpPr>
          <p:cNvPr id="7" name="TextBox 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Captured 2026-10-07 15:34 UTC from the build workspace by src/setup/capture_evidence.py · full output in evidence/ (index: VALIDATION.md)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Write-back and the app</a:t>
            </a:r>
          </a:p>
        </p:txBody>
      </p:sp>
      <p:sp>
        <p:nvSpPr>
          <p:cNvPr id="4" name="Text Placeholder 3"/>
          <p:cNvSpPr>
            <a:spLocks noGrp="1"/>
          </p:cNvSpPr>
          <p:nvPr>
            <p:ph type="body" idx="2"/>
          </p:nvPr>
        </p:nvSpPr>
        <p:spPr/>
        <p:txBody>
          <a:bodyPr/>
          <a:lstStyle/>
          <a:p>
            <a:r>
              <a:t>Evidence: one human correction end to end; the deployed app's live API</a:t>
            </a:r>
          </a:p>
        </p:txBody>
      </p:sp>
      <p:sp>
        <p:nvSpPr>
          <p:cNvPr id="5" name="TextBox 4"/>
          <p:cNvSpPr txBox="1"/>
          <p:nvPr/>
        </p:nvSpPr>
        <p:spPr>
          <a:xfrm>
            <a:off x="758952" y="1783080"/>
            <a:ext cx="10698480" cy="201168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Correction round trip: app -&gt; Lakebase -&gt; Delta -&gt; gold -&gt; Lakebase</a:t>
            </a:r>
          </a:p>
          <a:p>
            <a:pPr>
              <a:spcAft>
                <a:spcPts val="0"/>
              </a:spcAft>
            </a:pPr>
            <a:r>
              <a:rPr sz="1050">
                <a:solidFill>
                  <a:srgbClr val="1B3037"/>
                </a:solidFill>
                <a:latin typeface="Courier New"/>
              </a:rPr>
              <a:t>1 review.reading_overrides (Lakebase)   id 2 | gauge_009.jpg | override | human_value 1 | 2026-10-06 13:28:01 UTC</a:t>
            </a:r>
          </a:p>
          <a:p>
            <a:pPr>
              <a:spcAft>
                <a:spcPts val="0"/>
              </a:spcAft>
            </a:pPr>
            <a:r>
              <a:rPr sz="1050">
                <a:solidFill>
                  <a:srgbClr val="1B3037"/>
                </a:solidFill>
                <a:latin typeface="Courier New"/>
              </a:rPr>
              <a:t>  reason: "Read the wrong scale: needle tip is at ~1.0 bar; the AI read the counterweight end"</a:t>
            </a:r>
          </a:p>
          <a:p>
            <a:pPr>
              <a:spcAft>
                <a:spcPts val="0"/>
              </a:spcAft>
            </a:pPr>
            <a:r>
              <a:rPr sz="1050">
                <a:solidFill>
                  <a:srgbClr val="1B3037"/>
                </a:solidFill>
                <a:latin typeface="Courier New"/>
              </a:rPr>
              <a:t>2 Lakehouse Sync -&gt; Delta history       insert | _pg_lsn 30799832 | 2026-10-06T13:28:01.399</a:t>
            </a:r>
          </a:p>
          <a:p>
            <a:pPr>
              <a:spcAft>
                <a:spcPts val="0"/>
              </a:spcAft>
            </a:pPr>
            <a:r>
              <a:rPr sz="1050">
                <a:solidFill>
                  <a:srgbClr val="1B3037"/>
                </a:solidFill>
                <a:latin typeface="Courier New"/>
              </a:rPr>
              <a:t>3 Pipeline (job run) -&gt; gold            PI-3102 | ai_value 5.0 | final_value 1.0 bar | overridden | is_human_corrected true</a:t>
            </a:r>
          </a:p>
          <a:p>
            <a:pPr>
              <a:spcAft>
                <a:spcPts val="0"/>
              </a:spcAft>
            </a:pPr>
            <a:r>
              <a:rPr sz="1050">
                <a:solidFill>
                  <a:srgbClr val="1B3037"/>
                </a:solidFill>
                <a:latin typeface="Courier New"/>
              </a:rPr>
              <a:t>4 Snapshot sync -&gt; serving table        gauge_009.jpg | ai_value 5 | final_value 1 | overridden</a:t>
            </a:r>
          </a:p>
        </p:txBody>
      </p:sp>
      <p:sp>
        <p:nvSpPr>
          <p:cNvPr id="6" name="TextBox 5"/>
          <p:cNvSpPr txBox="1"/>
          <p:nvPr/>
        </p:nvSpPr>
        <p:spPr>
          <a:xfrm>
            <a:off x="758952" y="3840480"/>
            <a:ext cx="10698480" cy="228600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Deployed Databricks App: live API responses</a:t>
            </a:r>
          </a:p>
          <a:p>
            <a:pPr>
              <a:spcAft>
                <a:spcPts val="0"/>
              </a:spcAft>
            </a:pPr>
            <a:r>
              <a:rPr sz="1050">
                <a:solidFill>
                  <a:srgbClr val="1B3037"/>
                </a:solidFill>
                <a:latin typeface="Courier New"/>
              </a:rPr>
              <a:t>GET /api/readings      -&gt; HTTP 200   30 readings · reviewConfidenceThreshold 0.7</a:t>
            </a:r>
          </a:p>
          <a:p>
            <a:pPr>
              <a:spcAft>
                <a:spcPts val="0"/>
              </a:spcAft>
            </a:pPr>
            <a:r>
              <a:rPr sz="1050">
                <a:solidFill>
                  <a:srgbClr val="1B3037"/>
                </a:solidFill>
                <a:latin typeface="Courier New"/>
              </a:rPr>
              <a:t>  { "gauge_id": "PI-3102", "ai_value": 5, "final_value": 1, "unit": "bar", "vlm_confidence": 0.86,</a:t>
            </a:r>
          </a:p>
          <a:p>
            <a:pPr>
              <a:spcAft>
                <a:spcPts val="0"/>
              </a:spcAft>
            </a:pPr>
            <a:r>
              <a:rPr sz="1050">
                <a:solidFill>
                  <a:srgbClr val="1B3037"/>
                </a:solidFill>
                <a:latin typeface="Courier New"/>
              </a:rPr>
              <a:t>    "review_status": "overridden", "override_reason": "Read the wrong scale: needle tip is at ~1.0 bar ..." }</a:t>
            </a:r>
          </a:p>
          <a:p>
            <a:pPr>
              <a:spcAft>
                <a:spcPts val="0"/>
              </a:spcAft>
            </a:pPr>
            <a:r>
              <a:rPr sz="1050">
                <a:solidFill>
                  <a:srgbClr val="1B3037"/>
                </a:solidFill>
                <a:latin typeface="Courier New"/>
              </a:rPr>
              <a:t>GET /api/model-usage   -&gt; HTTP 200   { "requests": "33", "images_read": "30", "errors": "0", "est_cost_usd": 1.2688 }</a:t>
            </a:r>
          </a:p>
          <a:p>
            <a:pPr>
              <a:spcAft>
                <a:spcPts val="0"/>
              </a:spcAft>
            </a:pPr>
            <a:r>
              <a:rPr sz="1050">
                <a:solidFill>
                  <a:srgbClr val="1B3037"/>
                </a:solidFill>
                <a:latin typeface="Courier New"/>
              </a:rPr>
              <a:t>GET /api/review-stats  -&gt; HTTP 200   { "decisions": 1, "images_reviewed": 1 }</a:t>
            </a:r>
          </a:p>
        </p:txBody>
      </p:sp>
      <p:sp>
        <p:nvSpPr>
          <p:cNvPr id="7" name="TextBox 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Captured 2026-10-07 15:34 UTC from the build workspace by src/setup/capture_evidence.py · full output in evidence/ (index: VALIDATION.md)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Genie Agent</a:t>
            </a:r>
          </a:p>
        </p:txBody>
      </p:sp>
      <p:sp>
        <p:nvSpPr>
          <p:cNvPr id="4" name="Text Placeholder 3"/>
          <p:cNvSpPr>
            <a:spLocks noGrp="1"/>
          </p:cNvSpPr>
          <p:nvPr>
            <p:ph type="body" idx="2"/>
          </p:nvPr>
        </p:nvSpPr>
        <p:spPr/>
        <p:txBody>
          <a:bodyPr/>
          <a:lstStyle/>
          <a:p>
            <a:r>
              <a:t>Evidence: Genie's generated SQL and answers</a:t>
            </a:r>
          </a:p>
        </p:txBody>
      </p:sp>
      <p:sp>
        <p:nvSpPr>
          <p:cNvPr id="5" name="TextBox 4"/>
          <p:cNvSpPr txBox="1"/>
          <p:nvPr/>
        </p:nvSpPr>
        <p:spPr>
          <a:xfrm>
            <a:off x="758952" y="1783080"/>
            <a:ext cx="10698480" cy="265176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Q: Are any pressure readings unusually high?</a:t>
            </a:r>
          </a:p>
          <a:p>
            <a:pPr>
              <a:spcAft>
                <a:spcPts val="0"/>
              </a:spcAft>
            </a:pPr>
            <a:r>
              <a:rPr sz="1000">
                <a:solidFill>
                  <a:srgbClr val="1B3037"/>
                </a:solidFill>
                <a:latin typeface="Courier New"/>
              </a:rPr>
              <a:t>SELECT captured_at, image_id, gauge_id, site, unit_area, final_value, unit, normal_max,</a:t>
            </a:r>
          </a:p>
          <a:p>
            <a:pPr>
              <a:spcAft>
                <a:spcPts val="0"/>
              </a:spcAft>
            </a:pPr>
            <a:r>
              <a:rPr sz="1000">
                <a:solidFill>
                  <a:srgbClr val="1B3037"/>
                </a:solidFill>
                <a:latin typeface="Courier New"/>
              </a:rPr>
              <a:t>       (final_value - normal_max) AS above_normal_max</a:t>
            </a:r>
          </a:p>
          <a:p>
            <a:pPr>
              <a:spcAft>
                <a:spcPts val="0"/>
              </a:spcAft>
            </a:pPr>
            <a:r>
              <a:rPr sz="1000">
                <a:solidFill>
                  <a:srgbClr val="1B3037"/>
                </a:solidFill>
                <a:latin typeface="Courier New"/>
              </a:rPr>
              <a:t>FROM serverless_stable_kx6lwb_catalog.pressure_gauge.gold_gauge_readings_final</a:t>
            </a:r>
          </a:p>
          <a:p>
            <a:pPr>
              <a:spcAft>
                <a:spcPts val="0"/>
              </a:spcAft>
            </a:pPr>
            <a:r>
              <a:rPr sz="1000">
                <a:solidFill>
                  <a:srgbClr val="1B3037"/>
                </a:solidFill>
                <a:latin typeface="Courier New"/>
              </a:rPr>
              <a:t>WHERE reading_status = 'high' AND final_value IS NOT NULL AND normal_max IS NOT NULL</a:t>
            </a:r>
          </a:p>
          <a:p>
            <a:pPr>
              <a:spcAft>
                <a:spcPts val="0"/>
              </a:spcAft>
            </a:pPr>
            <a:r>
              <a:rPr sz="1000">
                <a:solidFill>
                  <a:srgbClr val="1B3037"/>
                </a:solidFill>
                <a:latin typeface="Courier New"/>
              </a:rPr>
              <a:t>ORDER BY above_normal_max DESC</a:t>
            </a:r>
          </a:p>
          <a:p>
            <a:pPr>
              <a:spcAft>
                <a:spcPts val="0"/>
              </a:spcAft>
            </a:pPr>
            <a:r>
              <a:rPr sz="1000">
                <a:solidFill>
                  <a:srgbClr val="1B3037"/>
                </a:solidFill>
                <a:latin typeface="Courier New"/>
              </a:rPr>
              <a:t> </a:t>
            </a:r>
          </a:p>
          <a:p>
            <a:pPr>
              <a:spcAft>
                <a:spcPts val="0"/>
              </a:spcAft>
            </a:pPr>
            <a:r>
              <a:rPr sz="1000">
                <a:solidFill>
                  <a:srgbClr val="1B3037"/>
                </a:solidFill>
                <a:latin typeface="Courier New"/>
              </a:rPr>
              <a:t>PI-3103 | Steam &amp; Utilities | 187.0 psi | max 175.0 | +12.0      PI-4108 | Instrument Air | 620.0 kPa | max 615.0  | +5.0</a:t>
            </a:r>
          </a:p>
          <a:p>
            <a:pPr>
              <a:spcAft>
                <a:spcPts val="0"/>
              </a:spcAft>
            </a:pPr>
            <a:r>
              <a:rPr sz="1000">
                <a:solidFill>
                  <a:srgbClr val="1B3037"/>
                </a:solidFill>
                <a:latin typeface="Courier New"/>
              </a:rPr>
              <a:t>PI-3104 | Steam &amp; Utilities |  68.0 psi | max 60.0  | +8.0       PI-2101 | Hydrotreater   |  20.0 bar | max 18.75  | +1.25</a:t>
            </a:r>
          </a:p>
          <a:p>
            <a:pPr>
              <a:spcAft>
                <a:spcPts val="0"/>
              </a:spcAft>
            </a:pPr>
            <a:r>
              <a:rPr sz="1000">
                <a:solidFill>
                  <a:srgbClr val="1B3037"/>
                </a:solidFill>
                <a:latin typeface="Courier New"/>
              </a:rPr>
              <a:t>Answer: "Yes - 4 pressure readings are above their normal maximums ... the largest excursion is PI-3103." </a:t>
            </a:r>
          </a:p>
        </p:txBody>
      </p:sp>
      <p:sp>
        <p:nvSpPr>
          <p:cNvPr id="6" name="TextBox 5"/>
          <p:cNvSpPr txBox="1"/>
          <p:nvPr/>
        </p:nvSpPr>
        <p:spPr>
          <a:xfrm>
            <a:off x="758952" y="4343400"/>
            <a:ext cx="10698480" cy="1783080"/>
          </a:xfrm>
          <a:prstGeom prst="rect">
            <a:avLst/>
          </a:prstGeom>
          <a:noFill/>
        </p:spPr>
        <p:txBody>
          <a:bodyPr wrap="square" anchor="t" lIns="36576" rIns="36576" tIns="36576" bIns="36576">
            <a:spAutoFit/>
          </a:bodyPr>
          <a:lstStyle/>
          <a:p>
            <a:pPr>
              <a:spcAft>
                <a:spcPts val="400"/>
              </a:spcAft>
            </a:pPr>
            <a:r>
              <a:rPr sz="1300" b="1">
                <a:solidFill>
                  <a:srgbClr val="FF3621"/>
                </a:solidFill>
                <a:latin typeface="DM Sans"/>
              </a:rPr>
              <a:t>Q: Which image readings have needed human intervention?</a:t>
            </a:r>
          </a:p>
          <a:p>
            <a:pPr>
              <a:spcAft>
                <a:spcPts val="0"/>
              </a:spcAft>
            </a:pPr>
            <a:r>
              <a:rPr sz="1000">
                <a:solidFill>
                  <a:srgbClr val="1B3037"/>
                </a:solidFill>
                <a:latin typeface="Courier New"/>
              </a:rPr>
              <a:t>SELECT image_id, gauge_id, site, ai_value, human_value, unit, override_reason, reviewed_by, reviewed_at</a:t>
            </a:r>
          </a:p>
          <a:p>
            <a:pPr>
              <a:spcAft>
                <a:spcPts val="0"/>
              </a:spcAft>
            </a:pPr>
            <a:r>
              <a:rPr sz="1000">
                <a:solidFill>
                  <a:srgbClr val="1B3037"/>
                </a:solidFill>
                <a:latin typeface="Courier New"/>
              </a:rPr>
              <a:t>FROM ...gold_gauge_readings_final WHERE is_human_corrected = true ORDER BY reviewed_at DESC</a:t>
            </a:r>
          </a:p>
          <a:p>
            <a:pPr>
              <a:spcAft>
                <a:spcPts val="0"/>
              </a:spcAft>
            </a:pPr>
            <a:r>
              <a:rPr sz="1000">
                <a:solidFill>
                  <a:srgbClr val="1B3037"/>
                </a:solidFill>
                <a:latin typeface="Courier New"/>
              </a:rPr>
              <a:t>Answer: "1 image reading needed human intervention: gauge_009.jpg for gauge PI-3102 at Northbay Refinery.</a:t>
            </a:r>
          </a:p>
          <a:p>
            <a:pPr>
              <a:spcAft>
                <a:spcPts val="0"/>
              </a:spcAft>
            </a:pPr>
            <a:r>
              <a:rPr sz="1000">
                <a:solidFill>
                  <a:srgbClr val="1B3037"/>
                </a:solidFill>
                <a:latin typeface="Courier New"/>
              </a:rPr>
              <a:t>         The AI reading was 5.0 bar, the human-corrected reading was 1.0 bar ..." </a:t>
            </a:r>
          </a:p>
        </p:txBody>
      </p:sp>
      <p:sp>
        <p:nvSpPr>
          <p:cNvPr id="7" name="TextBox 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Captured 2026-10-07 15:34 UTC from the build workspace by src/setup/capture_evidence.py · full output in evidence/ (index: VALIDATION.md)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